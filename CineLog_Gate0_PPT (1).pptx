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9" r:id="rId4"/>
    <p:sldId id="298" r:id="rId5"/>
    <p:sldId id="297" r:id="rId6"/>
    <p:sldId id="296" r:id="rId7"/>
    <p:sldId id="295" r:id="rId8"/>
    <p:sldId id="294" r:id="rId9"/>
    <p:sldId id="293" r:id="rId10"/>
    <p:sldId id="292" r:id="rId11"/>
    <p:sldId id="291" r:id="rId12"/>
    <p:sldId id="290" r:id="rId13"/>
    <p:sldId id="289" r:id="rId14"/>
    <p:sldId id="288" r:id="rId15"/>
    <p:sldId id="287" r:id="rId16"/>
    <p:sldId id="286" r:id="rId17"/>
    <p:sldId id="285" r:id="rId18"/>
    <p:sldId id="284" r:id="rId19"/>
    <p:sldId id="283" r:id="rId20"/>
    <p:sldId id="282" r:id="rId21"/>
    <p:sldId id="281" r:id="rId22"/>
    <p:sldId id="280" r:id="rId23"/>
    <p:sldId id="27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E6651546-1686-4C0B-B9BE-3163B404F5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4D5A-7FD4-4B03-AA63-45CB7CF6F81A}"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6651546-1686-4C0B-B9BE-3163B404F5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4D5A-7FD4-4B03-AA63-45CB7CF6F81A}"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6651546-1686-4C0B-B9BE-3163B404F5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4D5A-7FD4-4B03-AA63-45CB7CF6F81A}"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Date Placeholder 4"/>
          <p:cNvSpPr>
            <a:spLocks noGrp="1"/>
          </p:cNvSpPr>
          <p:nvPr>
            <p:ph type="dt" sz="half" idx="10"/>
          </p:nvPr>
        </p:nvSpPr>
        <p:spPr/>
        <p:txBody>
          <a:bodyPr/>
          <a:lstStyle/>
          <a:p>
            <a:fld id="{E6651546-1686-4C0B-B9BE-3163B404F5B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5D4D5A-7FD4-4B03-AA63-45CB7CF6F81A}"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7" name="Date Placeholder 6"/>
          <p:cNvSpPr>
            <a:spLocks noGrp="1"/>
          </p:cNvSpPr>
          <p:nvPr>
            <p:ph type="dt" sz="half" idx="10"/>
          </p:nvPr>
        </p:nvSpPr>
        <p:spPr/>
        <p:txBody>
          <a:bodyPr/>
          <a:lstStyle/>
          <a:p>
            <a:fld id="{E6651546-1686-4C0B-B9BE-3163B404F5B4}"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55D4D5A-7FD4-4B03-AA63-45CB7CF6F81A}"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E6651546-1686-4C0B-B9BE-3163B404F5B4}"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55D4D5A-7FD4-4B03-AA63-45CB7CF6F81A}"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651546-1686-4C0B-B9BE-3163B404F5B4}"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55D4D5A-7FD4-4B03-AA63-45CB7CF6F81A}"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6651546-1686-4C0B-B9BE-3163B404F5B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5D4D5A-7FD4-4B03-AA63-45CB7CF6F81A}"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6651546-1686-4C0B-B9BE-3163B404F5B4}"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55D4D5A-7FD4-4B03-AA63-45CB7CF6F81A}"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6651546-1686-4C0B-B9BE-3163B404F5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4D5A-7FD4-4B03-AA63-45CB7CF6F81A}"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10"/>
          </p:nvPr>
        </p:nvSpPr>
        <p:spPr/>
        <p:txBody>
          <a:bodyPr/>
          <a:lstStyle/>
          <a:p>
            <a:fld id="{E6651546-1686-4C0B-B9BE-3163B404F5B4}"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55D4D5A-7FD4-4B03-AA63-45CB7CF6F81A}"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651546-1686-4C0B-B9BE-3163B404F5B4}" type="datetimeFigureOut">
              <a:rPr lang="en-IN" smtClean="0"/>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5D4D5A-7FD4-4B03-AA63-45CB7CF6F81A}"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1.xml.rels><?xml version="1.0" encoding="UTF-8" standalone="yes"?>
<Relationships xmlns="http://schemas.openxmlformats.org/package/2006/relationships"><Relationship Id="rId9" Type="http://schemas.openxmlformats.org/officeDocument/2006/relationships/hyperlink" Target="https://help.imdb.com/article/contribution/contribution-information/user-review-guidelines/GABTWSNLDNFLPRRH" TargetMode="External"/><Relationship Id="rId8" Type="http://schemas.openxmlformats.org/officeDocument/2006/relationships/hyperlink" Target="https://letterboxd.com/legal/community-policy/" TargetMode="External"/><Relationship Id="rId7" Type="http://schemas.openxmlformats.org/officeDocument/2006/relationships/hyperlink" Target="https://today.yougov.com/entertainment/articles/42726-american-tv-preferences-yougov-poll" TargetMode="External"/><Relationship Id="rId6" Type="http://schemas.openxmlformats.org/officeDocument/2006/relationships/hyperlink" Target="https://allaboutcookies.org/media-spoilers-etiquette-survey" TargetMode="External"/><Relationship Id="rId5" Type="http://schemas.openxmlformats.org/officeDocument/2006/relationships/hyperlink" Target="https://www.fastcompany.com/3034474/who-actually-cares-about-spoilers-spoiler-about-70-of-us" TargetMode="External"/><Relationship Id="rId4" Type="http://schemas.openxmlformats.org/officeDocument/2006/relationships/hyperlink" Target="https://en.wikipedia.org/wiki/Letterboxd" TargetMode="External"/><Relationship Id="rId3" Type="http://schemas.openxmlformats.org/officeDocument/2006/relationships/hyperlink" Target="https://www.screendaily.com/features/weve-elbowed-our-way-into-the-industry-charting-the-rise-of-cinephile-social-platform-letterboxd/5191962.article" TargetMode="External"/><Relationship Id="rId2" Type="http://schemas.openxmlformats.org/officeDocument/2006/relationships/hyperlink" Target="https://www.ormaxmedia.com/stories/the-ormax-ott-audience-report-2025.html" TargetMode="External"/><Relationship Id="rId12" Type="http://schemas.openxmlformats.org/officeDocument/2006/relationships/slideLayout" Target="../slideLayouts/slideLayout7.xml"/><Relationship Id="rId11" Type="http://schemas.openxmlformats.org/officeDocument/2006/relationships/image" Target="../media/image1.jpeg"/><Relationship Id="rId10" Type="http://schemas.openxmlformats.org/officeDocument/2006/relationships/hyperlink" Target="https://www.cbc.ca/lite/story/1.6864613" TargetMode="External"/><Relationship Id="rId1" Type="http://schemas.openxmlformats.org/officeDocument/2006/relationships/hyperlink" Target="https://www.ormaxmedia.com/stories/the-ormax-box-office-report-2025.html" TargetMode="External"/></Relationships>
</file>

<file path=ppt/slides/_rels/slide22.xml.rels><?xml version="1.0" encoding="UTF-8" standalone="yes"?>
<Relationships xmlns="http://schemas.openxmlformats.org/package/2006/relationships"><Relationship Id="rId9" Type="http://schemas.openxmlformats.org/officeDocument/2006/relationships/hyperlink" Target="https://developer.themoviedb.org/docs/rate-limiting" TargetMode="External"/><Relationship Id="rId8" Type="http://schemas.openxmlformats.org/officeDocument/2006/relationships/hyperlink" Target="https://doi.org/10.1109/2.485845" TargetMode="External"/><Relationship Id="rId7" Type="http://schemas.openxmlformats.org/officeDocument/2006/relationships/hyperlink" Target="https://doi.org/10.1145/360825.360855" TargetMode="External"/><Relationship Id="rId6" Type="http://schemas.openxmlformats.org/officeDocument/2006/relationships/hyperlink" Target="https://aclanthology.org/P19-1248/" TargetMode="External"/><Relationship Id="rId5" Type="http://schemas.openxmlformats.org/officeDocument/2006/relationships/hyperlink" Target="https://doi.org/10.33736/tur.2866.2021" TargetMode="External"/><Relationship Id="rId4" Type="http://schemas.openxmlformats.org/officeDocument/2006/relationships/hyperlink" Target="https://doi.org/10.1145/2750858.2804250" TargetMode="External"/><Relationship Id="rId3" Type="http://schemas.openxmlformats.org/officeDocument/2006/relationships/hyperlink" Target="https://doi.org/10.1109/MIS.2007.58" TargetMode="External"/><Relationship Id="rId2" Type="http://schemas.openxmlformats.org/officeDocument/2006/relationships/hyperlink" Target="https://doi.org/10.1145/1562764.1562800" TargetMode="External"/><Relationship Id="rId12" Type="http://schemas.openxmlformats.org/officeDocument/2006/relationships/slideLayout" Target="../slideLayouts/slideLayout7.xml"/><Relationship Id="rId11" Type="http://schemas.openxmlformats.org/officeDocument/2006/relationships/image" Target="../media/image1.jpeg"/><Relationship Id="rId10" Type="http://schemas.openxmlformats.org/officeDocument/2006/relationships/hyperlink" Target="https://owasp.org/Top10/2021/" TargetMode="External"/><Relationship Id="rId1" Type="http://schemas.openxmlformats.org/officeDocument/2006/relationships/hyperlink" Target="https://www.newsweek.com/rotten-tomatoes-attempts-fix-review-bombing-ticket-verification-requirement-143441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524000" y="2919412"/>
            <a:ext cx="9144000" cy="10191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endParaRPr lang="en-IN" altLang="en-US" dirty="0"/>
          </a:p>
        </p:txBody>
      </p:sp>
      <p:pic>
        <p:nvPicPr>
          <p:cNvPr id="7" name="Picture 6"/>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
        <p:nvSpPr>
          <p:cNvPr id="4" name="Title 1"/>
          <p:cNvSpPr txBox="1"/>
          <p:nvPr/>
        </p:nvSpPr>
        <p:spPr>
          <a:xfrm>
            <a:off x="1176400" y="1052400"/>
            <a:ext cx="10144000" cy="1750000"/>
          </a:xfrm>
          <a:prstGeom prst="rect">
            <a:avLst/>
          </a:prstGeom>
        </p:spPr>
        <p:txBody>
          <a:bodyPr/>
          <a:lstStyle>
            <a:lvl1pPr algn="l" defTabSz="914400" rtl="0" eaLnBrk="1" latinLnBrk="0" hangingPunct="1">
              <a:lnSpc>
                <a:spcPct val="110000"/>
              </a:lnSpc>
              <a:spcBef>
                <a:spcPct val="0"/>
              </a:spcBef>
              <a:buNone/>
              <a:defRPr sz="4400" kern="1200">
                <a:solidFill>
                  <a:schemeClr val="tx1"/>
                </a:solidFill>
                <a:latin typeface="+mj-lt"/>
                <a:ea typeface="+mj-ea"/>
                <a:cs typeface="+mj-cs"/>
              </a:defRPr>
            </a:lvl1pPr>
          </a:lstStyle>
          <a:p>
            <a:pPr algn="ctr">
              <a:buNone/>
            </a:pPr>
            <a:r>
              <a:rPr lang="en-IN" altLang="en-US" sz="2400" b="1" dirty="0"/>
              <a:t>Gate 0 — Stage S0: Problem Definition &amp; Need Identification</a:t>
            </a:r>
            <a:endParaRPr lang="en-IN" altLang="en-US" sz="2400" b="1" dirty="0"/>
          </a:p>
          <a:p>
            <a:pPr algn="ctr">
              <a:buNone/>
            </a:pPr>
            <a:r>
              <a:rPr lang="en-IN" altLang="en-US" sz="3200" b="1" dirty="0"/>
              <a:t>CineLog: Role-Based Film Logging, Review &amp; Club Platform</a:t>
            </a:r>
            <a:endParaRPr lang="en-IN" altLang="en-US" sz="3200" b="1" dirty="0"/>
          </a:p>
          <a:p>
            <a:pPr algn="ctr">
              <a:buNone/>
            </a:pPr>
            <a:r>
              <a:rPr lang="en-IN" altLang="en-US" sz="2000" dirty="0">
                <a:latin typeface="Arial" panose="020B0604020202020204" pitchFamily="34" charset="0"/>
                <a:cs typeface="Arial" panose="020B0604020202020204" pitchFamily="34" charset="0"/>
              </a:rPr>
              <a:t>Theme: Role Based </a:t>
            </a:r>
            <a:r>
              <a:rPr lang="en-US" altLang="en-IN" sz="2000" dirty="0">
                <a:latin typeface="Arial" panose="020B0604020202020204" pitchFamily="34" charset="0"/>
                <a:cs typeface="Arial" panose="020B0604020202020204" pitchFamily="34" charset="0"/>
              </a:rPr>
              <a:t>Access Control</a:t>
            </a:r>
            <a:endParaRPr lang="en-US" altLang="en-IN" sz="2000" dirty="0">
              <a:latin typeface="Arial" panose="020B0604020202020204" pitchFamily="34" charset="0"/>
              <a:cs typeface="Arial" panose="020B0604020202020204" pitchFamily="34" charset="0"/>
            </a:endParaRPr>
          </a:p>
          <a:p>
            <a:pPr algn="ctr">
              <a:buNone/>
            </a:pPr>
            <a:r>
              <a:rPr lang="en-US" altLang="en-IN" sz="2000" dirty="0">
                <a:latin typeface="Arial" panose="020B0604020202020204" pitchFamily="34" charset="0"/>
                <a:cs typeface="Arial" panose="020B0604020202020204" pitchFamily="34" charset="0"/>
              </a:rPr>
              <a:t>Theme NO:1</a:t>
            </a:r>
            <a:endParaRPr lang="en-IN" altLang="en-US" sz="2000" dirty="0">
              <a:latin typeface="Arial" panose="020B0604020202020204" pitchFamily="34" charset="0"/>
              <a:cs typeface="Arial" panose="020B0604020202020204" pitchFamily="34" charset="0"/>
            </a:endParaRPr>
          </a:p>
          <a:p>
            <a:pPr algn="ctr">
              <a:buNone/>
            </a:pPr>
            <a:r>
              <a:rPr lang="en-IN" altLang="en-US" sz="2000" b="1" dirty="0">
                <a:latin typeface="Arial" panose="020B0604020202020204" pitchFamily="34" charset="0"/>
                <a:cs typeface="Arial" panose="020B0604020202020204" pitchFamily="34" charset="0"/>
              </a:rPr>
              <a:t>Team 15</a:t>
            </a:r>
            <a:r>
              <a:rPr lang="en-IN" altLang="en-US" sz="2000" dirty="0">
                <a:latin typeface="Arial" panose="020B0604020202020204" pitchFamily="34" charset="0"/>
                <a:cs typeface="Arial" panose="020B0604020202020204" pitchFamily="34" charset="0"/>
              </a:rPr>
              <a:t> • Guide: Prof. Vijay B</a:t>
            </a:r>
            <a:endParaRPr lang="en-IN" altLang="en-US" sz="2000" dirty="0">
              <a:latin typeface="Arial" panose="020B0604020202020204" pitchFamily="34" charset="0"/>
              <a:cs typeface="Arial" panose="020B0604020202020204" pitchFamily="34" charset="0"/>
            </a:endParaRPr>
          </a:p>
        </p:txBody>
      </p:sp>
      <p:graphicFrame>
        <p:nvGraphicFramePr>
          <p:cNvPr id="6" name="Team Table"/>
          <p:cNvGraphicFramePr>
            <a:graphicFrameLocks noGrp="1"/>
          </p:cNvGraphicFramePr>
          <p:nvPr/>
        </p:nvGraphicFramePr>
        <p:xfrm>
          <a:off x="3248400" y="4093210"/>
          <a:ext cx="6000115" cy="2112010"/>
        </p:xfrm>
        <a:graphic>
          <a:graphicData uri="http://schemas.openxmlformats.org/drawingml/2006/table">
            <a:tbl>
              <a:tblPr firstRow="1">
                <a:tableStyleId>{5940675A-B579-460E-94D1-54222C63F5DA}</a:tableStyleId>
              </a:tblPr>
              <a:tblGrid>
                <a:gridCol w="3600000"/>
                <a:gridCol w="2400300"/>
              </a:tblGrid>
              <a:tr h="422383">
                <a:tc>
                  <a:txBody>
                    <a:bodyPr/>
                    <a:lstStyle/>
                    <a:p>
                      <a:pPr algn="ctr"/>
                      <a:r>
                        <a:rPr lang="en-IN" sz="1600" b="1" dirty="0">
                          <a:solidFill>
                            <a:schemeClr val="bg1"/>
                          </a:solidFill>
                        </a:rPr>
                        <a:t>Team Member</a:t>
                      </a:r>
                      <a:endParaRPr lang="en-IN" sz="1600" b="1" dirty="0">
                        <a:solidFill>
                          <a:schemeClr val="bg1"/>
                        </a:solidFill>
                      </a:endParaRPr>
                    </a:p>
                  </a:txBody>
                  <a:tcPr anchor="ctr">
                    <a:solidFill>
                      <a:srgbClr val="8C1D24"/>
                    </a:solidFill>
                  </a:tcPr>
                </a:tc>
                <a:tc>
                  <a:txBody>
                    <a:bodyPr/>
                    <a:lstStyle/>
                    <a:p>
                      <a:pPr algn="ctr"/>
                      <a:r>
                        <a:rPr lang="en-IN" sz="1600" b="1" dirty="0">
                          <a:solidFill>
                            <a:schemeClr val="bg1"/>
                          </a:solidFill>
                        </a:rPr>
                        <a:t>USN</a:t>
                      </a:r>
                      <a:endParaRPr lang="en-IN" sz="1600" b="1" dirty="0">
                        <a:solidFill>
                          <a:schemeClr val="bg1"/>
                        </a:solidFill>
                      </a:endParaRPr>
                    </a:p>
                  </a:txBody>
                  <a:tcPr anchor="ctr">
                    <a:solidFill>
                      <a:srgbClr val="8C1D24"/>
                    </a:solidFill>
                  </a:tcPr>
                </a:tc>
              </a:tr>
              <a:tr h="422383">
                <a:tc>
                  <a:txBody>
                    <a:bodyPr/>
                    <a:lstStyle/>
                    <a:p>
                      <a:pPr algn="ctr"/>
                      <a:r>
                        <a:rPr lang="en-IN" sz="1600" dirty="0"/>
                        <a:t>Ashutosh Kulkarni</a:t>
                      </a:r>
                      <a:endParaRPr lang="en-IN" sz="1600" dirty="0"/>
                    </a:p>
                  </a:txBody>
                  <a:tcPr anchor="ctr">
                    <a:solidFill>
                      <a:srgbClr val="FFFFFF"/>
                    </a:solidFill>
                  </a:tcPr>
                </a:tc>
                <a:tc>
                  <a:txBody>
                    <a:bodyPr/>
                    <a:lstStyle/>
                    <a:p>
                      <a:pPr algn="ctr"/>
                      <a:r>
                        <a:rPr lang="en-US" altLang="en-IN" sz="1600" dirty="0"/>
                        <a:t>01fe24bcs197</a:t>
                      </a:r>
                      <a:endParaRPr lang="en-US" altLang="en-IN" sz="1600" dirty="0"/>
                    </a:p>
                  </a:txBody>
                  <a:tcPr anchor="ctr">
                    <a:solidFill>
                      <a:srgbClr val="FFFFFF"/>
                    </a:solidFill>
                  </a:tcPr>
                </a:tc>
              </a:tr>
              <a:tr h="422383">
                <a:tc>
                  <a:txBody>
                    <a:bodyPr/>
                    <a:lstStyle/>
                    <a:p>
                      <a:pPr algn="ctr"/>
                      <a:r>
                        <a:rPr lang="en-IN" sz="1600" dirty="0"/>
                        <a:t>Goureesh N Doddamani</a:t>
                      </a:r>
                      <a:endParaRPr lang="en-IN" sz="1600" dirty="0"/>
                    </a:p>
                  </a:txBody>
                  <a:tcPr anchor="ctr">
                    <a:solidFill>
                      <a:srgbClr val="FFFFFF"/>
                    </a:solidFill>
                  </a:tcPr>
                </a:tc>
                <a:tc>
                  <a:txBody>
                    <a:bodyPr/>
                    <a:lstStyle/>
                    <a:p>
                      <a:pPr algn="ctr"/>
                      <a:r>
                        <a:rPr lang="en-US" altLang="en-IN" sz="1600" dirty="0">
                          <a:sym typeface="+mn-ea"/>
                        </a:rPr>
                        <a:t>01fe24bcs140</a:t>
                      </a:r>
                      <a:endParaRPr lang="en-IN" sz="1600" dirty="0"/>
                    </a:p>
                  </a:txBody>
                  <a:tcPr anchor="ctr">
                    <a:solidFill>
                      <a:srgbClr val="FFFFFF"/>
                    </a:solidFill>
                  </a:tcPr>
                </a:tc>
              </a:tr>
              <a:tr h="422383">
                <a:tc>
                  <a:txBody>
                    <a:bodyPr/>
                    <a:lstStyle/>
                    <a:p>
                      <a:pPr algn="ctr"/>
                      <a:r>
                        <a:rPr lang="en-IN" sz="1600" dirty="0"/>
                        <a:t>Manish Shingri</a:t>
                      </a:r>
                      <a:endParaRPr lang="en-IN" sz="1600" dirty="0"/>
                    </a:p>
                  </a:txBody>
                  <a:tcPr anchor="ctr">
                    <a:solidFill>
                      <a:srgbClr val="FFFFFF"/>
                    </a:solidFill>
                  </a:tcPr>
                </a:tc>
                <a:tc>
                  <a:txBody>
                    <a:bodyPr/>
                    <a:lstStyle/>
                    <a:p>
                      <a:pPr algn="ctr"/>
                      <a:r>
                        <a:rPr lang="en-US" altLang="en-IN" sz="1600" dirty="0">
                          <a:sym typeface="+mn-ea"/>
                        </a:rPr>
                        <a:t>01fe24bcs107</a:t>
                      </a:r>
                      <a:endParaRPr lang="en-IN" sz="1600" dirty="0"/>
                    </a:p>
                  </a:txBody>
                  <a:tcPr anchor="ctr">
                    <a:solidFill>
                      <a:srgbClr val="FFFFFF"/>
                    </a:solidFill>
                  </a:tcPr>
                </a:tc>
              </a:tr>
              <a:tr h="422383">
                <a:tc>
                  <a:txBody>
                    <a:bodyPr/>
                    <a:lstStyle/>
                    <a:p>
                      <a:pPr algn="ctr"/>
                      <a:r>
                        <a:rPr lang="en-IN" sz="1600" dirty="0"/>
                        <a:t>Omkar A</a:t>
                      </a:r>
                      <a:endParaRPr lang="en-IN" sz="1600" dirty="0"/>
                    </a:p>
                  </a:txBody>
                  <a:tcPr anchor="ctr">
                    <a:solidFill>
                      <a:srgbClr val="FFFFFF"/>
                    </a:solidFill>
                  </a:tcPr>
                </a:tc>
                <a:tc>
                  <a:txBody>
                    <a:bodyPr/>
                    <a:lstStyle/>
                    <a:p>
                      <a:pPr algn="ctr"/>
                      <a:r>
                        <a:rPr lang="en-US" altLang="en-IN" sz="1600" dirty="0">
                          <a:sym typeface="+mn-ea"/>
                        </a:rPr>
                        <a:t>01fe24bcs022</a:t>
                      </a:r>
                      <a:endParaRPr lang="en-IN" sz="1600" dirty="0"/>
                    </a:p>
                  </a:txBody>
                  <a:tcPr anchor="ctr">
                    <a:solidFill>
                      <a:srgbClr val="FFFFFF"/>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INTRODUCTION</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800"/>
              </a:spcBef>
            </a:pPr>
            <a:r>
              <a:rPr sz="2400" b="1"/>
              <a:t>Theme:</a:t>
            </a:r>
            <a:r>
              <a:rPr sz="2400" b="0"/>
              <a:t> Role Based </a:t>
            </a:r>
            <a:r>
              <a:rPr lang="en-IN" sz="2400" b="0"/>
              <a:t>Access Control</a:t>
            </a:r>
            <a:endParaRPr sz="2400" b="0"/>
          </a:p>
          <a:p>
            <a:pPr>
              <a:spcBef>
                <a:spcPts val="800"/>
              </a:spcBef>
            </a:pPr>
            <a:r>
              <a:rPr sz="2400" b="1"/>
              <a:t>Artefact:</a:t>
            </a:r>
            <a:r>
              <a:rPr sz="2400" b="0"/>
              <a:t> CineLog — a role-based web platform to find, log, rate, review and discuss films, with campus film club management.</a:t>
            </a:r>
            <a:endParaRPr sz="2400" b="0"/>
          </a:p>
          <a:p>
            <a:pPr>
              <a:spcBef>
                <a:spcPts val="800"/>
              </a:spcBef>
            </a:pPr>
            <a:r>
              <a:rPr sz="2400" b="1"/>
              <a:t>The Project Focuses On:</a:t>
            </a:r>
            <a:r>
              <a:rPr sz="2400" b="0"/>
              <a:t> giving Viewers, Critics, Club Conveners, Moderators and Admins one place for film records, reviews and club decisions, each with role-specific permissions.</a:t>
            </a:r>
            <a:endParaRPr sz="2400" b="0"/>
          </a:p>
          <a:p>
            <a:pPr>
              <a:spcBef>
                <a:spcPts val="800"/>
              </a:spcBef>
            </a:pPr>
            <a:r>
              <a:rPr sz="2400" b="1"/>
              <a:t>Main Concern:</a:t>
            </a:r>
            <a:r>
              <a:rPr sz="2400" b="0"/>
              <a:t> scattered film data, unmarked spoilers in reviews, misleading single-score ratings and unstructured club coordination.</a:t>
            </a:r>
            <a:endParaRPr sz="2400" b="0"/>
          </a:p>
          <a:p>
            <a:pPr>
              <a:spcBef>
                <a:spcPts val="800"/>
              </a:spcBef>
            </a:pPr>
            <a:r>
              <a:rPr sz="2400" b="1"/>
              <a:t>Application Context:</a:t>
            </a:r>
            <a:r>
              <a:rPr sz="2400" b="0"/>
              <a:t> regular film viewers and campus film clubs — India recorded 83.2 crore cinema admissions and 60.1 crore monthly OTT viewers in 2025.</a:t>
            </a:r>
            <a:endParaRPr sz="2400" b="0"/>
          </a:p>
          <a:p>
            <a:pPr>
              <a:spcBef>
                <a:spcPts val="800"/>
              </a:spcBef>
            </a:pPr>
            <a:r>
              <a:rPr sz="2400" b="1"/>
              <a:t>Approach:</a:t>
            </a:r>
            <a:r>
              <a:rPr sz="2400" b="0"/>
              <a:t> built as engines grounded in core courses — DSA, DBMS, OS, CN &amp; Security, Software Engineering and Web Technologies (no AI/ML).</a:t>
            </a:r>
            <a:endParaRPr sz="24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PROBLEM DEFINITION</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800"/>
              </a:spcBef>
              <a:buNone/>
            </a:pPr>
            <a:r>
              <a:rPr sz="2400" b="1">
                <a:solidFill>
                  <a:srgbClr val="8C1D24"/>
                </a:solidFill>
              </a:rPr>
              <a:t>Problem Definition:</a:t>
            </a:r>
            <a:endParaRPr sz="2400" b="1">
              <a:solidFill>
                <a:srgbClr val="8C1D24"/>
              </a:solidFill>
            </a:endParaRPr>
          </a:p>
          <a:p>
            <a:pPr>
              <a:spcBef>
                <a:spcPts val="800"/>
              </a:spcBef>
            </a:pPr>
            <a:r>
              <a:rPr sz="2200" b="0"/>
              <a:t>Film viewers use </a:t>
            </a:r>
            <a:r>
              <a:rPr sz="2200" b="1"/>
              <a:t>3–4 separate apps</a:t>
            </a:r>
            <a:r>
              <a:rPr sz="2200" b="0"/>
              <a:t> — Google/IMDb to look up, spreadsheets or notes to log, rating apps, and WhatsApp to discuss — which </a:t>
            </a:r>
            <a:r>
              <a:rPr sz="2200" b="1"/>
              <a:t>share no data</a:t>
            </a:r>
            <a:r>
              <a:rPr sz="2200" b="0"/>
              <a:t>.</a:t>
            </a:r>
            <a:endParaRPr sz="2200" b="0"/>
          </a:p>
          <a:p>
            <a:pPr>
              <a:spcBef>
                <a:spcPts val="800"/>
              </a:spcBef>
            </a:pPr>
            <a:r>
              <a:rPr sz="2200" b="0"/>
              <a:t>The same details are typed again and again, so </a:t>
            </a:r>
            <a:r>
              <a:rPr sz="2200" b="1"/>
              <a:t>manual tracking lapses</a:t>
            </a:r>
            <a:r>
              <a:rPr sz="2200" b="0"/>
              <a:t> and people give up.</a:t>
            </a:r>
            <a:endParaRPr sz="2200" b="0"/>
          </a:p>
          <a:p>
            <a:pPr>
              <a:spcBef>
                <a:spcPts val="800"/>
              </a:spcBef>
            </a:pPr>
            <a:r>
              <a:rPr sz="2200" b="0"/>
              <a:t>Spoiler control is </a:t>
            </a:r>
            <a:r>
              <a:rPr sz="2200" b="1"/>
              <a:t>manual</a:t>
            </a:r>
            <a:r>
              <a:rPr sz="2200" b="0"/>
              <a:t>: the writer must tick a box, and unmarked spoilers are removed </a:t>
            </a:r>
            <a:r>
              <a:rPr sz="2200" b="1"/>
              <a:t>only after someone reports them</a:t>
            </a:r>
            <a:r>
              <a:rPr sz="2200" b="0"/>
              <a:t>.</a:t>
            </a:r>
            <a:endParaRPr sz="2200" b="0"/>
          </a:p>
          <a:p>
            <a:pPr>
              <a:spcBef>
                <a:spcPts val="800"/>
              </a:spcBef>
            </a:pPr>
            <a:r>
              <a:rPr sz="2200" b="0"/>
              <a:t>A </a:t>
            </a:r>
            <a:r>
              <a:rPr sz="2200" b="1"/>
              <a:t>single average score</a:t>
            </a:r>
            <a:r>
              <a:rPr sz="2200" b="0"/>
              <a:t> hides which parts of a film were good or bad and can be </a:t>
            </a:r>
            <a:r>
              <a:rPr sz="2200" b="1"/>
              <a:t>skewed by coordinated voting</a:t>
            </a:r>
            <a:r>
              <a:rPr sz="2200" b="0"/>
              <a:t> (review bombing).</a:t>
            </a:r>
            <a:endParaRPr sz="2200" b="0"/>
          </a:p>
          <a:p>
            <a:pPr>
              <a:spcBef>
                <a:spcPts val="800"/>
              </a:spcBef>
            </a:pPr>
            <a:r>
              <a:rPr sz="2200" b="0"/>
              <a:t>Campus film clubs plan screenings in </a:t>
            </a:r>
            <a:r>
              <a:rPr sz="2200" b="1"/>
              <a:t>group chats</a:t>
            </a:r>
            <a:r>
              <a:rPr sz="2200" b="0"/>
              <a:t> where suggestions and votes get buried, with </a:t>
            </a:r>
            <a:r>
              <a:rPr sz="2200" b="1"/>
              <a:t>no roles or records</a:t>
            </a:r>
            <a:r>
              <a:rPr sz="2200" b="0"/>
              <a:t>.</a:t>
            </a:r>
            <a:endParaRPr sz="2200" b="0"/>
          </a:p>
          <a:p>
            <a:pPr>
              <a:spcBef>
                <a:spcPts val="800"/>
              </a:spcBef>
            </a:pPr>
            <a:r>
              <a:rPr sz="2200" b="0"/>
              <a:t>The main problem is the </a:t>
            </a:r>
            <a:r>
              <a:rPr sz="2200" b="1"/>
              <a:t>absence of one reliable, role-governed place</a:t>
            </a:r>
            <a:r>
              <a:rPr sz="2200" b="0"/>
              <a:t> for film records, spoiler-safe reviews and club decisions.</a:t>
            </a:r>
            <a:endParaRPr sz="22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NEED</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800"/>
              </a:spcBef>
            </a:pPr>
            <a:r>
              <a:rPr sz="2600" b="0"/>
              <a:t>A </a:t>
            </a:r>
            <a:r>
              <a:rPr sz="2600" b="1"/>
              <a:t>single platform</a:t>
            </a:r>
            <a:r>
              <a:rPr sz="2600" b="0"/>
              <a:t> where film details are filled in automatically, so logging takes seconds instead of repeated typing.</a:t>
            </a:r>
            <a:endParaRPr sz="2600" b="0"/>
          </a:p>
          <a:p>
            <a:pPr>
              <a:spcBef>
                <a:spcPts val="800"/>
              </a:spcBef>
            </a:pPr>
            <a:r>
              <a:rPr sz="2600" b="0"/>
              <a:t>Every review must be </a:t>
            </a:r>
            <a:r>
              <a:rPr sz="2600" b="1"/>
              <a:t>checked for spoilers before it is shown</a:t>
            </a:r>
            <a:r>
              <a:rPr sz="2600" b="0"/>
              <a:t>, with a </a:t>
            </a:r>
            <a:r>
              <a:rPr sz="2600" b="1"/>
              <a:t>Reveal</a:t>
            </a:r>
            <a:r>
              <a:rPr sz="2600" b="0"/>
              <a:t> option so readers stay in control.</a:t>
            </a:r>
            <a:endParaRPr sz="2600" b="0"/>
          </a:p>
          <a:p>
            <a:pPr>
              <a:spcBef>
                <a:spcPts val="800"/>
              </a:spcBef>
            </a:pPr>
            <a:r>
              <a:rPr sz="2600" b="0"/>
              <a:t>Ratings </a:t>
            </a:r>
            <a:r>
              <a:rPr sz="2600" b="1"/>
              <a:t>broken down by aspect</a:t>
            </a:r>
            <a:r>
              <a:rPr sz="2600" b="0"/>
              <a:t> (Story, Acting, Visuals, Music, Pacing) to show why a film is rated as it is.</a:t>
            </a:r>
            <a:endParaRPr sz="2600" b="0"/>
          </a:p>
          <a:p>
            <a:pPr>
              <a:spcBef>
                <a:spcPts val="800"/>
              </a:spcBef>
            </a:pPr>
            <a:r>
              <a:rPr sz="2600" b="1"/>
              <a:t>Role-Based Access Control</a:t>
            </a:r>
            <a:r>
              <a:rPr sz="2600" b="0"/>
              <a:t> so Viewers, Critics, Club Conveners, Moderators and Admins can do only what their role allows (least privilege).</a:t>
            </a:r>
            <a:endParaRPr sz="2600" b="0"/>
          </a:p>
          <a:p>
            <a:pPr>
              <a:spcBef>
                <a:spcPts val="800"/>
              </a:spcBef>
            </a:pPr>
            <a:r>
              <a:rPr sz="2600" b="1"/>
              <a:t>Fair, recorded club decisions</a:t>
            </a:r>
            <a:r>
              <a:rPr sz="2600" b="0"/>
              <a:t> — shared watchlists and polls with one vote per member.</a:t>
            </a:r>
            <a:endParaRPr sz="2600" b="0"/>
          </a:p>
          <a:p>
            <a:pPr>
              <a:spcBef>
                <a:spcPts val="800"/>
              </a:spcBef>
            </a:pPr>
            <a:r>
              <a:rPr sz="2600" b="0"/>
              <a:t>A </a:t>
            </a:r>
            <a:r>
              <a:rPr sz="2600" b="1"/>
              <a:t>moderation queue sorted by risk</a:t>
            </a:r>
            <a:r>
              <a:rPr sz="2600" b="0"/>
              <a:t> instead of handling reports one by one.</a:t>
            </a:r>
            <a:endParaRPr sz="26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PROBLEM STATEMENT</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400"/>
              </a:spcBef>
              <a:buNone/>
            </a:pPr>
            <a:r>
              <a:rPr sz="2500" b="0"/>
              <a:t>As film viewers, review writers and members of campus film clubs, we have no single, reliable place to record, review and discuss the films we watch. Our information is scattered across three or four unconnected apps, so logging is repetitive and often abandoned. Reviews expose us to unwanted spoilers because platforms rely on writers to mark them and act only after a report. A single average score does not show why a film is good or bad and can be skewed by coordinated voting, and club decisions made in group chats get buried and are never recorded.</a:t>
            </a:r>
            <a:endParaRPr sz="2500" b="0"/>
          </a:p>
          <a:p>
            <a:pPr marL="0" indent="0">
              <a:spcBef>
                <a:spcPts val="400"/>
              </a:spcBef>
              <a:buNone/>
            </a:pPr>
          </a:p>
          <a:p>
            <a:pPr marL="0" indent="0">
              <a:spcBef>
                <a:spcPts val="400"/>
              </a:spcBef>
              <a:buNone/>
            </a:pPr>
            <a:r>
              <a:rPr sz="2500" b="0"/>
              <a:t>Therefore, we need </a:t>
            </a:r>
            <a:r>
              <a:rPr sz="2500" b="1"/>
              <a:t>one dependable, low-effort way to keep our film records, read reviews safely, understand ratings, and make club decisions fairly</a:t>
            </a:r>
            <a:r>
              <a:rPr sz="2500" b="0"/>
              <a:t>, with each user able to do only what their role allows. This is limited to web-based film records, reviews and club coordination, excluding streaming, ticketing and payments.</a:t>
            </a:r>
            <a:endParaRPr sz="25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68415"/>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INPUTS FOR THE SYSTEM</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800"/>
              </a:spcBef>
            </a:pPr>
            <a:r>
              <a:rPr sz="2300" b="1"/>
              <a:t>User Login Details:</a:t>
            </a:r>
            <a:r>
              <a:rPr sz="2300" b="0"/>
              <a:t> email or Google account, password (stored hashed) and assigned role.</a:t>
            </a:r>
            <a:endParaRPr sz="2300" b="0"/>
          </a:p>
          <a:p>
            <a:pPr>
              <a:spcBef>
                <a:spcPts val="800"/>
              </a:spcBef>
            </a:pPr>
            <a:r>
              <a:rPr sz="2300" b="1"/>
              <a:t>User Role:</a:t>
            </a:r>
            <a:r>
              <a:rPr sz="2300" b="0"/>
              <a:t> Viewer, Critic, Club Convener, Moderator or Admin.</a:t>
            </a:r>
            <a:endParaRPr sz="2300" b="0"/>
          </a:p>
          <a:p>
            <a:pPr>
              <a:spcBef>
                <a:spcPts val="800"/>
              </a:spcBef>
            </a:pPr>
            <a:r>
              <a:rPr sz="2300" b="1"/>
              <a:t>Film Data (from TMDB):</a:t>
            </a:r>
            <a:r>
              <a:rPr sz="2300" b="0"/>
              <a:t> title, year, cast, character names, genres and poster.</a:t>
            </a:r>
            <a:endParaRPr sz="2300" b="0"/>
          </a:p>
          <a:p>
            <a:pPr>
              <a:spcBef>
                <a:spcPts val="800"/>
              </a:spcBef>
            </a:pPr>
            <a:r>
              <a:rPr sz="2300" b="1"/>
              <a:t>Diary Entry:</a:t>
            </a:r>
            <a:r>
              <a:rPr sz="2300" b="0"/>
              <a:t> film, watch date, format (Theatre / OTT / IMAX), rewatch flag and private notes.</a:t>
            </a:r>
            <a:endParaRPr sz="2300" b="0"/>
          </a:p>
          <a:p>
            <a:pPr>
              <a:spcBef>
                <a:spcPts val="800"/>
              </a:spcBef>
            </a:pPr>
            <a:r>
              <a:rPr sz="2300" b="1"/>
              <a:t>Rating &amp; Review:</a:t>
            </a:r>
            <a:r>
              <a:rPr sz="2300" b="0"/>
              <a:t> 0.5–5 star rating, aspect ratings, review text and writer spoiler tags.</a:t>
            </a:r>
            <a:endParaRPr sz="2300" b="0"/>
          </a:p>
          <a:p>
            <a:pPr>
              <a:spcBef>
                <a:spcPts val="800"/>
              </a:spcBef>
            </a:pPr>
            <a:r>
              <a:rPr sz="2300" b="1"/>
              <a:t>Club Data:</a:t>
            </a:r>
            <a:r>
              <a:rPr sz="2300" b="0"/>
              <a:t> members and their club roles, shared watchlist, polls, votes and screening dates.</a:t>
            </a:r>
            <a:endParaRPr sz="2300" b="0"/>
          </a:p>
          <a:p>
            <a:pPr>
              <a:spcBef>
                <a:spcPts val="800"/>
              </a:spcBef>
            </a:pPr>
            <a:r>
              <a:rPr sz="2300" b="1"/>
              <a:t>Spoiler Word Lists:</a:t>
            </a:r>
            <a:r>
              <a:rPr sz="2300" b="0"/>
              <a:t> per-film terms from TMDB plus terms added by moderators and conveners.</a:t>
            </a:r>
            <a:endParaRPr sz="2300" b="0"/>
          </a:p>
          <a:p>
            <a:pPr>
              <a:spcBef>
                <a:spcPts val="800"/>
              </a:spcBef>
            </a:pPr>
            <a:r>
              <a:rPr sz="2300" b="1"/>
              <a:t>Reports &amp; Access Requests:</a:t>
            </a:r>
            <a:r>
              <a:rPr sz="2300" b="0"/>
              <a:t> reader reports on reviews; the resource or action a user wants to access.</a:t>
            </a:r>
            <a:endParaRPr sz="23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CONSTRAINTS</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800"/>
              </a:spcBef>
            </a:pPr>
            <a:r>
              <a:rPr sz="2400" b="1"/>
              <a:t>Role-Based Processing:</a:t>
            </a:r>
            <a:r>
              <a:rPr sz="2400" b="0"/>
              <a:t> every action is checked against the user’s role before it runs.</a:t>
            </a:r>
            <a:endParaRPr sz="2400" b="0"/>
          </a:p>
          <a:p>
            <a:pPr>
              <a:spcBef>
                <a:spcPts val="800"/>
              </a:spcBef>
            </a:pPr>
            <a:r>
              <a:rPr sz="2400" b="1"/>
              <a:t>Scan Before Publish:</a:t>
            </a:r>
            <a:r>
              <a:rPr sz="2400" b="0"/>
              <a:t> a review becomes public only after the Spoiler Shield scan completes.</a:t>
            </a:r>
            <a:endParaRPr sz="2400" b="0"/>
          </a:p>
          <a:p>
            <a:pPr>
              <a:spcBef>
                <a:spcPts val="800"/>
              </a:spcBef>
            </a:pPr>
            <a:r>
              <a:rPr sz="2400" b="1"/>
              <a:t>One Member, One Vote:</a:t>
            </a:r>
            <a:r>
              <a:rPr sz="2400" b="0"/>
              <a:t> enforced by a UNIQUE constraint inside a database transaction.</a:t>
            </a:r>
            <a:endParaRPr sz="2400" b="0"/>
          </a:p>
          <a:p>
            <a:pPr>
              <a:spcBef>
                <a:spcPts val="800"/>
              </a:spcBef>
            </a:pPr>
            <a:r>
              <a:rPr sz="2400" b="1"/>
              <a:t>Poll Deadlines:</a:t>
            </a:r>
            <a:r>
              <a:rPr sz="2400" b="0"/>
              <a:t> voting closes at the convener’s deadline; results are locked and stored.</a:t>
            </a:r>
            <a:endParaRPr sz="2400" b="0"/>
          </a:p>
          <a:p>
            <a:pPr>
              <a:spcBef>
                <a:spcPts val="800"/>
              </a:spcBef>
            </a:pPr>
            <a:r>
              <a:rPr sz="2400" b="1"/>
              <a:t>Job Priority:</a:t>
            </a:r>
            <a:r>
              <a:rPr sz="2400" b="0"/>
              <a:t> user-facing jobs (spoiler scans) run before batch jobs (TMDB sync, emails).</a:t>
            </a:r>
            <a:endParaRPr sz="2400" b="0"/>
          </a:p>
          <a:p>
            <a:pPr>
              <a:spcBef>
                <a:spcPts val="800"/>
              </a:spcBef>
            </a:pPr>
            <a:r>
              <a:rPr sz="2400" b="1"/>
              <a:t>External Rate Limits:</a:t>
            </a:r>
            <a:r>
              <a:rPr sz="2400" b="0"/>
              <a:t> TMDB calls are rate-limited and cached; back off on HTTP 429.</a:t>
            </a:r>
            <a:endParaRPr sz="2400" b="0"/>
          </a:p>
          <a:p>
            <a:pPr>
              <a:spcBef>
                <a:spcPts val="800"/>
              </a:spcBef>
            </a:pPr>
            <a:r>
              <a:rPr sz="2400" b="1"/>
              <a:t>Audit Requirement:</a:t>
            </a:r>
            <a:r>
              <a:rPr sz="2400" b="0"/>
              <a:t> role changes, moderation actions and poll results are logged with user and timestamp.</a:t>
            </a:r>
            <a:endParaRPr sz="24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FOUNDATIONAL COURSES</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600"/>
              </a:spcBef>
            </a:pPr>
            <a:r>
              <a:rPr sz="2600" b="1"/>
              <a:t>DSA</a:t>
            </a:r>
            <a:r>
              <a:rPr sz="2600" b="0"/>
              <a:t>, we use a </a:t>
            </a:r>
            <a:r>
              <a:rPr sz="2600" b="1"/>
              <a:t>Trie</a:t>
            </a:r>
            <a:r>
              <a:rPr sz="2600" b="0"/>
              <a:t> for title autocomplete, an </a:t>
            </a:r>
            <a:r>
              <a:rPr sz="2600" b="1"/>
              <a:t>inverted index</a:t>
            </a:r>
            <a:r>
              <a:rPr sz="2600" b="0"/>
              <a:t> for keyword and genre search, a </a:t>
            </a:r>
            <a:r>
              <a:rPr sz="2600" b="1"/>
              <a:t>min-heap</a:t>
            </a:r>
            <a:r>
              <a:rPr sz="2600" b="0"/>
              <a:t> for top-K results and feed merging, the </a:t>
            </a:r>
            <a:r>
              <a:rPr sz="2600" b="1"/>
              <a:t>Aho–Corasick automaton</a:t>
            </a:r>
            <a:r>
              <a:rPr sz="2600" b="0"/>
              <a:t> to find spoiler words in one pass, and an </a:t>
            </a:r>
            <a:r>
              <a:rPr sz="2600" b="1"/>
              <a:t>LRU cache</a:t>
            </a:r>
            <a:r>
              <a:rPr sz="2600" b="0"/>
              <a:t> (hash map + linked list).</a:t>
            </a:r>
            <a:endParaRPr sz="2600" b="0"/>
          </a:p>
          <a:p>
            <a:pPr>
              <a:spcBef>
                <a:spcPts val="1600"/>
              </a:spcBef>
            </a:pPr>
            <a:r>
              <a:rPr sz="2600" b="1"/>
              <a:t>DBMS</a:t>
            </a:r>
            <a:r>
              <a:rPr sz="2600" b="0"/>
              <a:t>, we use an </a:t>
            </a:r>
            <a:r>
              <a:rPr sz="2600" b="1"/>
              <a:t>ER model normalised to 3NF</a:t>
            </a:r>
            <a:r>
              <a:rPr sz="2600" b="0"/>
              <a:t>, </a:t>
            </a:r>
            <a:r>
              <a:rPr sz="2600" b="1"/>
              <a:t>primary/foreign keys and UNIQUE constraints</a:t>
            </a:r>
            <a:r>
              <a:rPr sz="2600" b="0"/>
              <a:t>, </a:t>
            </a:r>
            <a:r>
              <a:rPr sz="2600" b="1"/>
              <a:t>B+-tree indexes</a:t>
            </a:r>
            <a:r>
              <a:rPr sz="2600" b="0"/>
              <a:t>, and </a:t>
            </a:r>
            <a:r>
              <a:rPr sz="2600" b="1"/>
              <a:t>ACID transactions with row locking</a:t>
            </a:r>
            <a:r>
              <a:rPr sz="2600" b="0"/>
              <a:t> so ratings and votes stay correct when many users act at once.</a:t>
            </a:r>
            <a:endParaRPr sz="2600" b="0"/>
          </a:p>
          <a:p>
            <a:pPr>
              <a:spcBef>
                <a:spcPts val="1600"/>
              </a:spcBef>
            </a:pPr>
            <a:r>
              <a:rPr sz="2600" b="1"/>
              <a:t>Operating Systems</a:t>
            </a:r>
            <a:r>
              <a:rPr sz="2600" b="0"/>
              <a:t>, we use a </a:t>
            </a:r>
            <a:r>
              <a:rPr sz="2600" b="1"/>
              <a:t>worker thread pool</a:t>
            </a:r>
            <a:r>
              <a:rPr sz="2600" b="0"/>
              <a:t> with a </a:t>
            </a:r>
            <a:r>
              <a:rPr sz="2600" b="1"/>
              <a:t>producer–consumer bounded queue</a:t>
            </a:r>
            <a:r>
              <a:rPr sz="2600" b="0"/>
              <a:t> protected by a </a:t>
            </a:r>
            <a:r>
              <a:rPr sz="2600" b="1"/>
              <a:t>mutex and semaphores</a:t>
            </a:r>
            <a:r>
              <a:rPr sz="2600" b="0"/>
              <a:t>, </a:t>
            </a:r>
            <a:r>
              <a:rPr sz="2600" b="1"/>
              <a:t>priority scheduling</a:t>
            </a:r>
            <a:r>
              <a:rPr sz="2600" b="0"/>
              <a:t> of jobs, and </a:t>
            </a:r>
            <a:r>
              <a:rPr sz="2600" b="1"/>
              <a:t>deadlock avoidance</a:t>
            </a:r>
            <a:r>
              <a:rPr sz="2600" b="0"/>
              <a:t> through fixed lock ordering (e.g., two members voting in the same poll at the same moment).</a:t>
            </a:r>
            <a:endParaRPr sz="26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FOUNDATIONAL COURSES</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600"/>
              </a:spcBef>
            </a:pPr>
            <a:r>
              <a:rPr sz="2600" b="1"/>
              <a:t>Computer Networks &amp; Security</a:t>
            </a:r>
            <a:r>
              <a:rPr sz="2600" b="0"/>
              <a:t>, we use HTTP/REST, </a:t>
            </a:r>
            <a:r>
              <a:rPr sz="2600" b="1"/>
              <a:t>TLS/HTTPS</a:t>
            </a:r>
            <a:r>
              <a:rPr sz="2600" b="0"/>
              <a:t>, </a:t>
            </a:r>
            <a:r>
              <a:rPr sz="2600" b="1"/>
              <a:t>OAuth 2.0</a:t>
            </a:r>
            <a:r>
              <a:rPr sz="2600" b="0"/>
              <a:t> Google sign-in with </a:t>
            </a:r>
            <a:r>
              <a:rPr sz="2600" b="1"/>
              <a:t>JWT</a:t>
            </a:r>
            <a:r>
              <a:rPr sz="2600" b="0"/>
              <a:t> sessions, </a:t>
            </a:r>
            <a:r>
              <a:rPr sz="2600" b="1"/>
              <a:t>bcrypt</a:t>
            </a:r>
            <a:r>
              <a:rPr sz="2600" b="0"/>
              <a:t> password hashing, </a:t>
            </a:r>
            <a:r>
              <a:rPr sz="2600" b="1"/>
              <a:t>token-bucket rate limiting</a:t>
            </a:r>
            <a:r>
              <a:rPr sz="2600" b="0"/>
              <a:t>, OWASP protections (SQL injection, XSS, CSRF) and SMTP email alerts.</a:t>
            </a:r>
            <a:endParaRPr sz="2600" b="0"/>
          </a:p>
          <a:p>
            <a:pPr>
              <a:spcBef>
                <a:spcPts val="1600"/>
              </a:spcBef>
            </a:pPr>
            <a:r>
              <a:rPr sz="2600" b="1"/>
              <a:t>Software Engineering (OOSE)</a:t>
            </a:r>
            <a:r>
              <a:rPr sz="2600" b="0"/>
              <a:t>, we use a gated SDLC, </a:t>
            </a:r>
            <a:r>
              <a:rPr sz="2600" b="1"/>
              <a:t>SRS and traceability matrix</a:t>
            </a:r>
            <a:r>
              <a:rPr sz="2600" b="0"/>
              <a:t>, </a:t>
            </a:r>
            <a:r>
              <a:rPr sz="2600" b="1"/>
              <a:t>UML</a:t>
            </a:r>
            <a:r>
              <a:rPr sz="2600" b="0"/>
              <a:t> (use case, class, sequence), a layered architecture, design patterns (Repository, Strategy, Observer), an </a:t>
            </a:r>
            <a:r>
              <a:rPr sz="2600" b="1"/>
              <a:t>RBAC permission matrix</a:t>
            </a:r>
            <a:r>
              <a:rPr sz="2600" b="0"/>
              <a:t>, and unit, integration and load testing.</a:t>
            </a:r>
            <a:endParaRPr sz="2600" b="0"/>
          </a:p>
          <a:p>
            <a:pPr>
              <a:spcBef>
                <a:spcPts val="1600"/>
              </a:spcBef>
            </a:pPr>
            <a:r>
              <a:rPr sz="2600" b="1"/>
              <a:t>Web Technologies</a:t>
            </a:r>
            <a:r>
              <a:rPr sz="2600" b="0"/>
              <a:t>, we use a responsive </a:t>
            </a:r>
            <a:r>
              <a:rPr sz="2600" b="1"/>
              <a:t>React</a:t>
            </a:r>
            <a:r>
              <a:rPr sz="2600" b="0"/>
              <a:t> UI, </a:t>
            </a:r>
            <a:r>
              <a:rPr sz="2600" b="1"/>
              <a:t>REST API</a:t>
            </a:r>
            <a:r>
              <a:rPr sz="2600" b="0"/>
              <a:t> design, cookies and sessions, </a:t>
            </a:r>
            <a:r>
              <a:rPr sz="2600" b="1"/>
              <a:t>WebSocket</a:t>
            </a:r>
            <a:r>
              <a:rPr sz="2600" b="0"/>
              <a:t> for live poll results, and validation on both client and server.</a:t>
            </a:r>
            <a:endParaRPr sz="26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STAKEHOLDERS</a:t>
            </a:r>
            <a:endParaRPr lang="en-IN" altLang="en-US" sz="4000" b="1" dirty="0"/>
          </a:p>
        </p:txBody>
      </p:sp>
      <p:sp>
        <p:nvSpPr>
          <p:cNvPr id="3" name="Content Placeholder 2"/>
          <p:cNvSpPr txBox="1"/>
          <p:nvPr/>
        </p:nvSpPr>
        <p:spPr>
          <a:xfrm>
            <a:off x="502920" y="1097280"/>
            <a:ext cx="548640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800"/>
              </a:spcBef>
              <a:buNone/>
            </a:pPr>
            <a:r>
              <a:rPr sz="2400" b="1">
                <a:solidFill>
                  <a:srgbClr val="8C1D24"/>
                </a:solidFill>
              </a:rPr>
              <a:t>Primary Stakeholders:</a:t>
            </a:r>
            <a:endParaRPr sz="2400" b="1">
              <a:solidFill>
                <a:srgbClr val="8C1D24"/>
              </a:solidFill>
            </a:endParaRPr>
          </a:p>
          <a:p>
            <a:pPr>
              <a:spcBef>
                <a:spcPts val="800"/>
              </a:spcBef>
            </a:pPr>
            <a:r>
              <a:rPr sz="2200" b="1"/>
              <a:t>Casual Viewers:</a:t>
            </a:r>
            <a:r>
              <a:rPr sz="2200" b="0"/>
              <a:t> search films, read spoiler-safe reviews, keep a watchlist.</a:t>
            </a:r>
            <a:endParaRPr sz="2200" b="0"/>
          </a:p>
          <a:p>
            <a:pPr>
              <a:spcBef>
                <a:spcPts val="800"/>
              </a:spcBef>
            </a:pPr>
            <a:r>
              <a:rPr sz="2200" b="1"/>
              <a:t>Cinephiles / Loggers:</a:t>
            </a:r>
            <a:r>
              <a:rPr sz="2200" b="0"/>
              <a:t> keep a film diary with ratings, rewatches and tags.</a:t>
            </a:r>
            <a:endParaRPr sz="2200" b="0"/>
          </a:p>
          <a:p>
            <a:pPr>
              <a:spcBef>
                <a:spcPts val="800"/>
              </a:spcBef>
            </a:pPr>
            <a:r>
              <a:rPr sz="2200" b="1"/>
              <a:t>Critics / Review Writers:</a:t>
            </a:r>
            <a:r>
              <a:rPr sz="2200" b="0"/>
              <a:t> publish detailed reviews with aspect ratings.</a:t>
            </a:r>
            <a:endParaRPr sz="2200" b="0"/>
          </a:p>
          <a:p>
            <a:pPr>
              <a:spcBef>
                <a:spcPts val="800"/>
              </a:spcBef>
            </a:pPr>
            <a:r>
              <a:rPr sz="2200" b="1"/>
              <a:t>Club Conveners:</a:t>
            </a:r>
            <a:r>
              <a:rPr sz="2200" b="0"/>
              <a:t> create clubs, shared watchlists, polls and screenings.</a:t>
            </a:r>
            <a:endParaRPr sz="2200" b="0"/>
          </a:p>
          <a:p>
            <a:pPr>
              <a:spcBef>
                <a:spcPts val="800"/>
              </a:spcBef>
            </a:pPr>
            <a:r>
              <a:rPr sz="2200" b="1"/>
              <a:t>Club Members:</a:t>
            </a:r>
            <a:r>
              <a:rPr sz="2200" b="0"/>
              <a:t> vote in polls, join screenings, discuss films.</a:t>
            </a:r>
            <a:endParaRPr sz="22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
        <p:nvSpPr>
          <p:cNvPr id="7" name="Content Column 2"/>
          <p:cNvSpPr txBox="1"/>
          <p:nvPr/>
        </p:nvSpPr>
        <p:spPr>
          <a:xfrm>
            <a:off x="6217920" y="1097280"/>
            <a:ext cx="548640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800"/>
              </a:spcBef>
              <a:buNone/>
            </a:pPr>
            <a:r>
              <a:rPr sz="2400" b="1">
                <a:solidFill>
                  <a:srgbClr val="8C1D24"/>
                </a:solidFill>
              </a:rPr>
              <a:t>Secondary Stakeholders:</a:t>
            </a:r>
            <a:endParaRPr sz="2400" b="1">
              <a:solidFill>
                <a:srgbClr val="8C1D24"/>
              </a:solidFill>
            </a:endParaRPr>
          </a:p>
          <a:p>
            <a:pPr>
              <a:spcBef>
                <a:spcPts val="800"/>
              </a:spcBef>
            </a:pPr>
            <a:r>
              <a:rPr sz="2200" b="1"/>
              <a:t>Moderators:</a:t>
            </a:r>
            <a:r>
              <a:rPr sz="2200" b="0"/>
              <a:t> handle flagged reviews from a risk-sorted queue.</a:t>
            </a:r>
            <a:endParaRPr sz="2200" b="0"/>
          </a:p>
          <a:p>
            <a:pPr>
              <a:spcBef>
                <a:spcPts val="800"/>
              </a:spcBef>
            </a:pPr>
            <a:r>
              <a:rPr sz="2200" b="1"/>
              <a:t>System Administrator:</a:t>
            </a:r>
            <a:r>
              <a:rPr sz="2200" b="0"/>
              <a:t> manages roles, servers, backups and audit logs.</a:t>
            </a:r>
            <a:endParaRPr sz="2200" b="0"/>
          </a:p>
          <a:p>
            <a:pPr>
              <a:spcBef>
                <a:spcPts val="800"/>
              </a:spcBef>
            </a:pPr>
            <a:r>
              <a:rPr sz="2200" b="1"/>
              <a:t>TMDB (external API):</a:t>
            </a:r>
            <a:r>
              <a:rPr sz="2200" b="0"/>
              <a:t> supplies film data under rate-limit and attribution rules.</a:t>
            </a:r>
            <a:endParaRPr sz="2200" b="0"/>
          </a:p>
          <a:p>
            <a:pPr>
              <a:spcBef>
                <a:spcPts val="800"/>
              </a:spcBef>
            </a:pPr>
            <a:r>
              <a:rPr sz="2200" b="1"/>
              <a:t>Faculty Guide &amp; Review Panel:</a:t>
            </a:r>
            <a:r>
              <a:rPr sz="2200" b="0"/>
              <a:t> evaluate evidence, design and KPIs.</a:t>
            </a:r>
            <a:endParaRPr sz="2200" b="0"/>
          </a:p>
          <a:p>
            <a:pPr>
              <a:spcBef>
                <a:spcPts val="800"/>
              </a:spcBef>
            </a:pPr>
            <a:r>
              <a:rPr sz="2200" b="1"/>
              <a:t>Developers &amp; Testers:</a:t>
            </a:r>
            <a:r>
              <a:rPr sz="2200" b="0"/>
              <a:t> build, test and maintain the system.</a:t>
            </a:r>
            <a:endParaRPr sz="2200" b="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AS-IS WORKFLOW</a:t>
            </a:r>
            <a:endParaRPr lang="en-IN" altLang="en-US" sz="4000" b="1" dirty="0"/>
          </a:p>
        </p:txBody>
      </p:sp>
      <p:sp>
        <p:nvSpPr>
          <p:cNvPr id="3" name="Content Placeholder 2"/>
          <p:cNvSpPr txBox="1"/>
          <p:nvPr/>
        </p:nvSpPr>
        <p:spPr>
          <a:xfrm>
            <a:off x="502920" y="1097280"/>
            <a:ext cx="448056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500"/>
              </a:spcBef>
              <a:buNone/>
            </a:pPr>
            <a:r>
              <a:rPr sz="1800" b="1">
                <a:solidFill>
                  <a:srgbClr val="8C1D24"/>
                </a:solidFill>
              </a:rPr>
              <a:t>Workflow Chart:</a:t>
            </a:r>
            <a:endParaRPr sz="1800" b="1">
              <a:solidFill>
                <a:srgbClr val="8C1D24"/>
              </a:solidFill>
            </a:endParaRPr>
          </a:p>
          <a:p>
            <a:pPr marL="0" indent="0">
              <a:spcBef>
                <a:spcPts val="500"/>
              </a:spcBef>
              <a:buNone/>
            </a:pPr>
            <a:r>
              <a:rPr sz="1600" b="1"/>
              <a:t>Viewer → Logger → Review Writer → Reader → Moderator → Club</a:t>
            </a:r>
            <a:endParaRPr sz="1600" b="1"/>
          </a:p>
          <a:p>
            <a:pPr>
              <a:spcBef>
                <a:spcPts val="500"/>
              </a:spcBef>
            </a:pPr>
            <a:r>
              <a:rPr sz="1600" b="1"/>
              <a:t>Viewer:</a:t>
            </a:r>
            <a:r>
              <a:rPr sz="1600" b="0"/>
              <a:t> searches the film on Google / IMDb.</a:t>
            </a:r>
            <a:endParaRPr sz="1600" b="0"/>
          </a:p>
          <a:p>
            <a:pPr>
              <a:spcBef>
                <a:spcPts val="500"/>
              </a:spcBef>
            </a:pPr>
            <a:r>
              <a:rPr sz="1600" b="1"/>
              <a:t>Logger:</a:t>
            </a:r>
            <a:r>
              <a:rPr sz="1600" b="0"/>
              <a:t> types watch details into a spreadsheet or notes app.</a:t>
            </a:r>
            <a:endParaRPr sz="1600" b="0"/>
          </a:p>
          <a:p>
            <a:pPr>
              <a:spcBef>
                <a:spcPts val="500"/>
              </a:spcBef>
            </a:pPr>
            <a:r>
              <a:rPr sz="1600" b="1"/>
              <a:t>Rater:</a:t>
            </a:r>
            <a:r>
              <a:rPr sz="1600" b="0"/>
              <a:t> gives one star score on a rating app.</a:t>
            </a:r>
            <a:endParaRPr sz="1600" b="0"/>
          </a:p>
          <a:p>
            <a:pPr>
              <a:spcBef>
                <a:spcPts val="500"/>
              </a:spcBef>
            </a:pPr>
            <a:r>
              <a:rPr sz="1600" b="1"/>
              <a:t>Review Writer:</a:t>
            </a:r>
            <a:r>
              <a:rPr sz="1600" b="0"/>
              <a:t> posts a review; may forget the spoiler box.</a:t>
            </a:r>
            <a:endParaRPr sz="1600" b="0"/>
          </a:p>
          <a:p>
            <a:pPr>
              <a:spcBef>
                <a:spcPts val="500"/>
              </a:spcBef>
            </a:pPr>
            <a:r>
              <a:rPr sz="1600" b="1"/>
              <a:t>Reader:</a:t>
            </a:r>
            <a:r>
              <a:rPr sz="1600" b="0"/>
              <a:t> reads reviews; may see the ending.</a:t>
            </a:r>
            <a:endParaRPr sz="1600" b="0"/>
          </a:p>
          <a:p>
            <a:pPr>
              <a:spcBef>
                <a:spcPts val="500"/>
              </a:spcBef>
            </a:pPr>
            <a:r>
              <a:rPr sz="1600" b="1"/>
              <a:t>Moderator:</a:t>
            </a:r>
            <a:r>
              <a:rPr sz="1600" b="0"/>
              <a:t> removes a spoiler only after a report.</a:t>
            </a:r>
            <a:endParaRPr sz="1600" b="0"/>
          </a:p>
          <a:p>
            <a:pPr>
              <a:spcBef>
                <a:spcPts val="500"/>
              </a:spcBef>
            </a:pPr>
            <a:r>
              <a:rPr sz="1600" b="1"/>
              <a:t>Club:</a:t>
            </a:r>
            <a:r>
              <a:rPr sz="1600" b="0"/>
              <a:t> plans screenings through WhatsApp polls.</a:t>
            </a:r>
            <a:endParaRPr sz="16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pic>
        <p:nvPicPr>
          <p:cNvPr id="11" name="Picture 10" descr="asis.png"/>
          <p:cNvPicPr>
            <a:picLocks noChangeAspect="1"/>
          </p:cNvPicPr>
          <p:nvPr/>
        </p:nvPicPr>
        <p:blipFill>
          <a:blip r:embed="rId2"/>
          <a:stretch>
            <a:fillRect/>
          </a:stretch>
        </p:blipFill>
        <p:spPr>
          <a:xfrm>
            <a:off x="5074920" y="1600200"/>
            <a:ext cx="6812280" cy="394150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AS-IS PAIN POINTS</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800"/>
              </a:spcBef>
            </a:pPr>
            <a:r>
              <a:rPr sz="2600" b="1"/>
              <a:t>Scattered data:</a:t>
            </a:r>
            <a:r>
              <a:rPr sz="2600" b="0"/>
              <a:t> 3–4 apps that share nothing; the same details are typed again.</a:t>
            </a:r>
            <a:endParaRPr sz="2600" b="0"/>
          </a:p>
          <a:p>
            <a:pPr>
              <a:spcBef>
                <a:spcPts val="800"/>
              </a:spcBef>
            </a:pPr>
            <a:r>
              <a:rPr sz="2600" b="1"/>
              <a:t>Tracking lapses:</a:t>
            </a:r>
            <a:r>
              <a:rPr sz="2600" b="0"/>
              <a:t> manual logging is tedious, so people forget and give up.</a:t>
            </a:r>
            <a:endParaRPr sz="2600" b="0"/>
          </a:p>
          <a:p>
            <a:pPr>
              <a:spcBef>
                <a:spcPts val="800"/>
              </a:spcBef>
            </a:pPr>
            <a:r>
              <a:rPr sz="2600" b="1"/>
              <a:t>Spoiler exposure:</a:t>
            </a:r>
            <a:r>
              <a:rPr sz="2600" b="0"/>
              <a:t> nothing checks a review before it is shown; action comes only after a report.</a:t>
            </a:r>
            <a:endParaRPr sz="2600" b="0"/>
          </a:p>
          <a:p>
            <a:pPr>
              <a:spcBef>
                <a:spcPts val="800"/>
              </a:spcBef>
            </a:pPr>
            <a:r>
              <a:rPr sz="2600" b="1"/>
              <a:t>Misleading scores:</a:t>
            </a:r>
            <a:r>
              <a:rPr sz="2600" b="0"/>
              <a:t> one average hides strengths and weaknesses and can be review-bombed.</a:t>
            </a:r>
            <a:endParaRPr sz="2600" b="0"/>
          </a:p>
          <a:p>
            <a:pPr>
              <a:spcBef>
                <a:spcPts val="800"/>
              </a:spcBef>
            </a:pPr>
            <a:r>
              <a:rPr sz="2600" b="1"/>
              <a:t>Slow moderation:</a:t>
            </a:r>
            <a:r>
              <a:rPr sz="2600" b="0"/>
              <a:t> reports are handled one by one, in arrival order, not by risk.</a:t>
            </a:r>
            <a:endParaRPr sz="2600" b="0"/>
          </a:p>
          <a:p>
            <a:pPr>
              <a:spcBef>
                <a:spcPts val="800"/>
              </a:spcBef>
            </a:pPr>
            <a:r>
              <a:rPr sz="2600" b="1"/>
              <a:t>Lost club decisions:</a:t>
            </a:r>
            <a:r>
              <a:rPr sz="2600" b="0"/>
              <a:t> votes buried in chat; no one-person-one-vote rule; no history.</a:t>
            </a:r>
            <a:endParaRPr sz="2600" b="0"/>
          </a:p>
          <a:p>
            <a:pPr>
              <a:spcBef>
                <a:spcPts val="800"/>
              </a:spcBef>
            </a:pPr>
            <a:r>
              <a:rPr sz="2600" b="1"/>
              <a:t>No roles:</a:t>
            </a:r>
            <a:r>
              <a:rPr sz="2600" b="0"/>
              <a:t> anyone in a chat group can change or delete anything.</a:t>
            </a:r>
            <a:endParaRPr sz="26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EVIDENCE</a:t>
            </a:r>
            <a:endParaRPr lang="en-IN" altLang="en-US" sz="4000" b="1" dirty="0"/>
          </a:p>
        </p:txBody>
      </p:sp>
      <p:sp>
        <p:nvSpPr>
          <p:cNvPr id="3" name="Content Placeholder 2"/>
          <p:cNvSpPr txBox="1"/>
          <p:nvPr/>
        </p:nvSpPr>
        <p:spPr>
          <a:xfrm>
            <a:off x="502920" y="2606040"/>
            <a:ext cx="11155680" cy="361188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sz="2200" b="1"/>
              <a:t>Manual spoiler control:</a:t>
            </a:r>
            <a:r>
              <a:rPr sz="2200" b="0"/>
              <a:t> Letterboxd and IMDb rely on writers to mark spoilers; IMDb acts on unmarked spoilers when they are reported.</a:t>
            </a:r>
            <a:endParaRPr sz="2200" b="0"/>
          </a:p>
          <a:p>
            <a:pPr>
              <a:spcBef>
                <a:spcPts val="600"/>
              </a:spcBef>
            </a:pPr>
            <a:r>
              <a:rPr sz="2200" b="1"/>
              <a:t>Scores mislead:</a:t>
            </a:r>
            <a:r>
              <a:rPr sz="2200" b="0"/>
              <a:t> ratings follow a J-shaped pattern, so the average is biased (Hu et al., 2009); for The Little Mermaid (2023), Rotten Tomatoes showed 95% from verified buyers but 56% from all users.</a:t>
            </a:r>
            <a:endParaRPr sz="2200" b="0"/>
          </a:p>
          <a:p>
            <a:pPr>
              <a:spcBef>
                <a:spcPts val="600"/>
              </a:spcBef>
            </a:pPr>
            <a:r>
              <a:rPr sz="2200" b="1"/>
              <a:t>Tracking lapses:</a:t>
            </a:r>
            <a:r>
              <a:rPr sz="2200" b="0"/>
              <a:t> self-trackers switch tools, forget and give up (Epstein et al., 2015).</a:t>
            </a:r>
            <a:endParaRPr sz="2200" b="0"/>
          </a:p>
          <a:p>
            <a:pPr>
              <a:spcBef>
                <a:spcPts val="600"/>
              </a:spcBef>
            </a:pPr>
            <a:r>
              <a:rPr sz="2200" b="1"/>
              <a:t>Group chats bury messages:</a:t>
            </a:r>
            <a:r>
              <a:rPr sz="2200" b="0"/>
              <a:t> in large student chat groups, important messages get overlooked (Teo &amp; Khiri, 2021).</a:t>
            </a:r>
            <a:endParaRPr sz="2200" b="0"/>
          </a:p>
          <a:p>
            <a:pPr marL="0" indent="0">
              <a:spcBef>
                <a:spcPts val="600"/>
              </a:spcBef>
              <a:buNone/>
            </a:pPr>
            <a:r>
              <a:rPr sz="2000" b="0" i="1"/>
              <a:t>Primary data: a student survey and 2–3 club interviews are planned in Weeks 4–5 to confirm these findings locally.</a:t>
            </a:r>
            <a:endParaRPr sz="2000" b="0" i="1"/>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
        <p:nvSpPr>
          <p:cNvPr id="11" name="Rounded Rectangle 10"/>
          <p:cNvSpPr/>
          <p:nvPr/>
        </p:nvSpPr>
        <p:spPr>
          <a:xfrm>
            <a:off x="548640" y="1051560"/>
            <a:ext cx="3474720" cy="1417320"/>
          </a:xfrm>
          <a:prstGeom prst="roundRect">
            <a:avLst>
              <a:gd name="adj" fmla="val 12000"/>
            </a:avLst>
          </a:prstGeom>
          <a:solidFill>
            <a:srgbClr val="F4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3400" b="1">
                <a:solidFill>
                  <a:srgbClr val="8C1D24"/>
                </a:solidFill>
              </a:rPr>
              <a:t>78%</a:t>
            </a:r>
            <a:endParaRPr sz="3400" b="1">
              <a:solidFill>
                <a:srgbClr val="8C1D24"/>
              </a:solidFill>
            </a:endParaRPr>
          </a:p>
          <a:p>
            <a:pPr algn="ctr"/>
            <a:r>
              <a:rPr sz="1500">
                <a:solidFill>
                  <a:srgbClr val="333333"/>
                </a:solidFill>
              </a:rPr>
              <a:t>had a film, show or sports result spoiled (TiVo survey)</a:t>
            </a:r>
            <a:endParaRPr sz="1500">
              <a:solidFill>
                <a:srgbClr val="333333"/>
              </a:solidFill>
            </a:endParaRPr>
          </a:p>
        </p:txBody>
      </p:sp>
      <p:sp>
        <p:nvSpPr>
          <p:cNvPr id="12" name="Rounded Rectangle 11"/>
          <p:cNvSpPr/>
          <p:nvPr/>
        </p:nvSpPr>
        <p:spPr>
          <a:xfrm>
            <a:off x="4297679" y="1051560"/>
            <a:ext cx="3474720" cy="1417320"/>
          </a:xfrm>
          <a:prstGeom prst="roundRect">
            <a:avLst>
              <a:gd name="adj" fmla="val 12000"/>
            </a:avLst>
          </a:prstGeom>
          <a:solidFill>
            <a:srgbClr val="F4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3400" b="1">
                <a:solidFill>
                  <a:srgbClr val="8C1D24"/>
                </a:solidFill>
              </a:rPr>
              <a:t>62%</a:t>
            </a:r>
            <a:endParaRPr sz="3400" b="1">
              <a:solidFill>
                <a:srgbClr val="8C1D24"/>
              </a:solidFill>
            </a:endParaRPr>
          </a:p>
          <a:p>
            <a:pPr algn="ctr"/>
            <a:r>
              <a:rPr sz="1500">
                <a:solidFill>
                  <a:srgbClr val="333333"/>
                </a:solidFill>
              </a:rPr>
              <a:t>change their internet habits to avoid spoilers (2026 survey)</a:t>
            </a:r>
            <a:endParaRPr sz="1500">
              <a:solidFill>
                <a:srgbClr val="333333"/>
              </a:solidFill>
            </a:endParaRPr>
          </a:p>
        </p:txBody>
      </p:sp>
      <p:sp>
        <p:nvSpPr>
          <p:cNvPr id="13" name="Rounded Rectangle 12"/>
          <p:cNvSpPr/>
          <p:nvPr/>
        </p:nvSpPr>
        <p:spPr>
          <a:xfrm>
            <a:off x="8046719" y="1051560"/>
            <a:ext cx="3474720" cy="1417320"/>
          </a:xfrm>
          <a:prstGeom prst="roundRect">
            <a:avLst>
              <a:gd name="adj" fmla="val 12000"/>
            </a:avLst>
          </a:prstGeom>
          <a:solidFill>
            <a:srgbClr val="F4ECEC"/>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3400" b="1">
                <a:solidFill>
                  <a:srgbClr val="8C1D24"/>
                </a:solidFill>
              </a:rPr>
              <a:t>30M+</a:t>
            </a:r>
            <a:endParaRPr sz="3400" b="1">
              <a:solidFill>
                <a:srgbClr val="8C1D24"/>
              </a:solidFill>
            </a:endParaRPr>
          </a:p>
          <a:p>
            <a:pPr algn="ctr"/>
            <a:r>
              <a:rPr sz="1500">
                <a:solidFill>
                  <a:srgbClr val="333333"/>
                </a:solidFill>
              </a:rPr>
              <a:t>Letterboxd members by July 2026, up from 1.8M in 2020</a:t>
            </a:r>
            <a:endParaRPr sz="1500">
              <a:solidFill>
                <a:srgbClr val="333333"/>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PROJECT OBJECTIVES</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800"/>
              </a:spcBef>
            </a:pPr>
            <a:r>
              <a:rPr sz="2500" b="0"/>
              <a:t>To let users </a:t>
            </a:r>
            <a:r>
              <a:rPr sz="2500" b="1"/>
              <a:t>log a film in ≤ 30 seconds and ≤ 3 clicks</a:t>
            </a:r>
            <a:r>
              <a:rPr sz="2500" b="0"/>
              <a:t>, with details filled in from TMDB.</a:t>
            </a:r>
            <a:endParaRPr sz="2500" b="0"/>
          </a:p>
          <a:p>
            <a:pPr>
              <a:spcBef>
                <a:spcPts val="800"/>
              </a:spcBef>
            </a:pPr>
            <a:r>
              <a:rPr sz="2500" b="0"/>
              <a:t>To build a </a:t>
            </a:r>
            <a:r>
              <a:rPr sz="2500" b="1"/>
              <a:t>Search Engine</a:t>
            </a:r>
            <a:r>
              <a:rPr sz="2500" b="0"/>
              <a:t> (Trie + inverted index) giving autocomplete in </a:t>
            </a:r>
            <a:r>
              <a:rPr sz="2500" b="1"/>
              <a:t>≤ 100 ms</a:t>
            </a:r>
            <a:r>
              <a:rPr sz="2500" b="0"/>
              <a:t> over 10,000+ titles.</a:t>
            </a:r>
            <a:endParaRPr sz="2500" b="0"/>
          </a:p>
          <a:p>
            <a:pPr>
              <a:spcBef>
                <a:spcPts val="800"/>
              </a:spcBef>
            </a:pPr>
            <a:r>
              <a:rPr sz="2500" b="0"/>
              <a:t>To </a:t>
            </a:r>
            <a:r>
              <a:rPr sz="2500" b="1"/>
              <a:t>scan every review for spoilers before it is shown</a:t>
            </a:r>
            <a:r>
              <a:rPr sz="2500" b="0"/>
              <a:t>, catching </a:t>
            </a:r>
            <a:r>
              <a:rPr sz="2500" b="1"/>
              <a:t>≥ 85%</a:t>
            </a:r>
            <a:r>
              <a:rPr sz="2500" b="0"/>
              <a:t> of spoilers with </a:t>
            </a:r>
            <a:r>
              <a:rPr sz="2500" b="1"/>
              <a:t>≤ 10%</a:t>
            </a:r>
            <a:r>
              <a:rPr sz="2500" b="0"/>
              <a:t> wrongly blurred.</a:t>
            </a:r>
            <a:endParaRPr sz="2500" b="0"/>
          </a:p>
          <a:p>
            <a:pPr>
              <a:spcBef>
                <a:spcPts val="800"/>
              </a:spcBef>
            </a:pPr>
            <a:r>
              <a:rPr sz="2500" b="0"/>
              <a:t>To keep data correct under load: </a:t>
            </a:r>
            <a:r>
              <a:rPr sz="2500" b="1"/>
              <a:t>0 duplicate votes and 0 lost updates</a:t>
            </a:r>
            <a:r>
              <a:rPr sz="2500" b="0"/>
              <a:t> with 100 concurrent users; API p95 </a:t>
            </a:r>
            <a:r>
              <a:rPr sz="2500" b="1"/>
              <a:t>≤ 300 ms</a:t>
            </a:r>
            <a:r>
              <a:rPr sz="2500" b="0"/>
              <a:t>.</a:t>
            </a:r>
            <a:endParaRPr sz="2500" b="0"/>
          </a:p>
          <a:p>
            <a:pPr>
              <a:spcBef>
                <a:spcPts val="800"/>
              </a:spcBef>
            </a:pPr>
            <a:r>
              <a:rPr sz="2500" b="0"/>
              <a:t>To run background jobs in a </a:t>
            </a:r>
            <a:r>
              <a:rPr sz="2500" b="1"/>
              <a:t>thread pool</a:t>
            </a:r>
            <a:r>
              <a:rPr sz="2500" b="0"/>
              <a:t> at </a:t>
            </a:r>
            <a:r>
              <a:rPr sz="2500" b="1"/>
              <a:t>≥ 50 jobs/min</a:t>
            </a:r>
            <a:r>
              <a:rPr sz="2500" b="0"/>
              <a:t> with no deadlock in a 1-hour test.</a:t>
            </a:r>
            <a:endParaRPr sz="2500" b="0"/>
          </a:p>
          <a:p>
            <a:pPr>
              <a:spcBef>
                <a:spcPts val="800"/>
              </a:spcBef>
            </a:pPr>
            <a:r>
              <a:rPr sz="2500" b="0"/>
              <a:t>To enforce </a:t>
            </a:r>
            <a:r>
              <a:rPr sz="2500" b="1"/>
              <a:t>RBAC for 5 roles</a:t>
            </a:r>
            <a:r>
              <a:rPr sz="2500" b="0"/>
              <a:t>, with </a:t>
            </a:r>
            <a:r>
              <a:rPr sz="2500" b="1"/>
              <a:t>100%</a:t>
            </a:r>
            <a:r>
              <a:rPr sz="2500" b="0"/>
              <a:t> of protected endpoints passing role tests and </a:t>
            </a:r>
            <a:r>
              <a:rPr sz="2500" b="1"/>
              <a:t>0 critical</a:t>
            </a:r>
            <a:r>
              <a:rPr sz="2500" b="0"/>
              <a:t> OWASP issues.</a:t>
            </a:r>
            <a:endParaRPr sz="25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PROJECT SCOPE</a:t>
            </a:r>
            <a:endParaRPr lang="en-IN" altLang="en-US" sz="4000" b="1" dirty="0"/>
          </a:p>
        </p:txBody>
      </p:sp>
      <p:sp>
        <p:nvSpPr>
          <p:cNvPr id="3" name="Content Placeholder 2"/>
          <p:cNvSpPr txBox="1"/>
          <p:nvPr/>
        </p:nvSpPr>
        <p:spPr>
          <a:xfrm>
            <a:off x="502920" y="1097280"/>
            <a:ext cx="694944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sz="2100" b="1">
                <a:solidFill>
                  <a:srgbClr val="8C1D24"/>
                </a:solidFill>
              </a:rPr>
              <a:t>In Scope — 8 Engines:</a:t>
            </a:r>
            <a:endParaRPr sz="2100" b="1">
              <a:solidFill>
                <a:srgbClr val="8C1D24"/>
              </a:solidFill>
            </a:endParaRPr>
          </a:p>
          <a:p>
            <a:pPr>
              <a:spcBef>
                <a:spcPts val="600"/>
              </a:spcBef>
            </a:pPr>
            <a:r>
              <a:rPr sz="1900" b="1"/>
              <a:t>Role &amp; Permission Engine</a:t>
            </a:r>
            <a:r>
              <a:rPr sz="1900" b="0"/>
              <a:t> — 5 roles, checks on every request</a:t>
            </a:r>
            <a:endParaRPr sz="1900" b="0"/>
          </a:p>
          <a:p>
            <a:pPr>
              <a:spcBef>
                <a:spcPts val="600"/>
              </a:spcBef>
            </a:pPr>
            <a:r>
              <a:rPr sz="1900" b="1"/>
              <a:t>Secure Access Gateway</a:t>
            </a:r>
            <a:r>
              <a:rPr sz="1900" b="0"/>
              <a:t> — OAuth/JWT, bcrypt, HTTPS, rate limiting</a:t>
            </a:r>
            <a:endParaRPr sz="1900" b="0"/>
          </a:p>
          <a:p>
            <a:pPr>
              <a:spcBef>
                <a:spcPts val="600"/>
              </a:spcBef>
            </a:pPr>
            <a:r>
              <a:rPr sz="1900" b="1"/>
              <a:t>Search Engine</a:t>
            </a:r>
            <a:r>
              <a:rPr sz="1900" b="0"/>
              <a:t> — TMDB catalogue, Trie, inverted index, LRU cache</a:t>
            </a:r>
            <a:endParaRPr sz="1900" b="0"/>
          </a:p>
          <a:p>
            <a:pPr>
              <a:spcBef>
                <a:spcPts val="600"/>
              </a:spcBef>
            </a:pPr>
            <a:r>
              <a:rPr sz="1900" b="1"/>
              <a:t>Storage &amp; Transaction Engine</a:t>
            </a:r>
            <a:r>
              <a:rPr sz="1900" b="0"/>
              <a:t> — 3NF PostgreSQL, indexes, locking</a:t>
            </a:r>
            <a:endParaRPr sz="1900" b="0"/>
          </a:p>
          <a:p>
            <a:pPr>
              <a:spcBef>
                <a:spcPts val="600"/>
              </a:spcBef>
            </a:pPr>
            <a:r>
              <a:rPr sz="1900" b="1"/>
              <a:t>Job Scheduler Engine</a:t>
            </a:r>
            <a:r>
              <a:rPr sz="1900" b="0"/>
              <a:t> — thread pool, producer–consumer queue</a:t>
            </a:r>
            <a:endParaRPr sz="1900" b="0"/>
          </a:p>
          <a:p>
            <a:pPr>
              <a:spcBef>
                <a:spcPts val="600"/>
              </a:spcBef>
            </a:pPr>
            <a:r>
              <a:rPr sz="1900" b="1"/>
              <a:t>Spoiler Shield Engine</a:t>
            </a:r>
            <a:r>
              <a:rPr sz="1900" b="0"/>
              <a:t> — per-film word lists, Aho–Corasick, blur + Reveal</a:t>
            </a:r>
            <a:endParaRPr sz="1900" b="0"/>
          </a:p>
          <a:p>
            <a:pPr>
              <a:spcBef>
                <a:spcPts val="600"/>
              </a:spcBef>
            </a:pPr>
            <a:r>
              <a:rPr sz="1900" b="1"/>
              <a:t>Diary, Rating &amp; Taste Engine</a:t>
            </a:r>
            <a:r>
              <a:rPr sz="1900" b="0"/>
              <a:t> — diary, watchlist, aspect ratings, taste radar</a:t>
            </a:r>
            <a:endParaRPr sz="1900" b="0"/>
          </a:p>
          <a:p>
            <a:pPr>
              <a:spcBef>
                <a:spcPts val="600"/>
              </a:spcBef>
            </a:pPr>
            <a:r>
              <a:rPr sz="1900" b="1"/>
              <a:t>Club Engine &amp; Moderation Console</a:t>
            </a:r>
            <a:r>
              <a:rPr sz="1900" b="0"/>
              <a:t> — polls, watchlists, risk-sorted queue</a:t>
            </a:r>
            <a:endParaRPr sz="19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
        <p:nvSpPr>
          <p:cNvPr id="7" name="Content Column 2"/>
          <p:cNvSpPr txBox="1"/>
          <p:nvPr/>
        </p:nvSpPr>
        <p:spPr>
          <a:xfrm>
            <a:off x="7680960" y="1097280"/>
            <a:ext cx="411480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600"/>
              </a:spcBef>
              <a:buNone/>
            </a:pPr>
            <a:r>
              <a:rPr sz="2100" b="1">
                <a:solidFill>
                  <a:srgbClr val="8C1D24"/>
                </a:solidFill>
              </a:rPr>
              <a:t>Out of Scope:</a:t>
            </a:r>
            <a:endParaRPr sz="2100" b="1">
              <a:solidFill>
                <a:srgbClr val="8C1D24"/>
              </a:solidFill>
            </a:endParaRPr>
          </a:p>
          <a:p>
            <a:pPr>
              <a:spcBef>
                <a:spcPts val="600"/>
              </a:spcBef>
            </a:pPr>
            <a:r>
              <a:rPr sz="1900" b="0"/>
              <a:t>Streaming or hosting films</a:t>
            </a:r>
            <a:endParaRPr sz="1900" b="0"/>
          </a:p>
          <a:p>
            <a:pPr>
              <a:spcBef>
                <a:spcPts val="600"/>
              </a:spcBef>
            </a:pPr>
            <a:r>
              <a:rPr sz="1900" b="0"/>
              <a:t>Native Android / iOS apps</a:t>
            </a:r>
            <a:endParaRPr sz="1900" b="0"/>
          </a:p>
          <a:p>
            <a:pPr>
              <a:spcBef>
                <a:spcPts val="600"/>
              </a:spcBef>
            </a:pPr>
            <a:r>
              <a:rPr sz="1900" b="0"/>
              <a:t>Ticket booking and payments</a:t>
            </a:r>
            <a:endParaRPr sz="1900" b="0"/>
          </a:p>
          <a:p>
            <a:pPr marL="0" indent="0">
              <a:spcBef>
                <a:spcPts val="600"/>
              </a:spcBef>
              <a:buNone/>
            </a:pPr>
            <a:endParaRPr sz="1900" b="0"/>
          </a:p>
          <a:p>
            <a:pPr>
              <a:spcBef>
                <a:spcPts val="600"/>
              </a:spcBef>
            </a:pPr>
            <a:r>
              <a:rPr sz="1900" b="0"/>
              <a:t>Scraping film data ourselves</a:t>
            </a:r>
            <a:endParaRPr sz="1900" b="0"/>
          </a:p>
          <a:p>
            <a:pPr>
              <a:spcBef>
                <a:spcPts val="600"/>
              </a:spcBef>
            </a:pPr>
            <a:r>
              <a:rPr sz="1900" b="0"/>
              <a:t>Live voice / video watch parties</a:t>
            </a:r>
            <a:endParaRPr sz="1900" b="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200" b="1" dirty="0"/>
              <a:t>ASSUMPTIONS &amp; CONSTRAINTS</a:t>
            </a:r>
            <a:endParaRPr lang="en-IN" altLang="en-US" sz="4000" b="1" dirty="0"/>
          </a:p>
        </p:txBody>
      </p:sp>
      <p:sp>
        <p:nvSpPr>
          <p:cNvPr id="3" name="Content Placeholder 2"/>
          <p:cNvSpPr txBox="1"/>
          <p:nvPr/>
        </p:nvSpPr>
        <p:spPr>
          <a:xfrm>
            <a:off x="502920" y="1097280"/>
            <a:ext cx="548640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800"/>
              </a:spcBef>
              <a:buNone/>
            </a:pPr>
            <a:r>
              <a:rPr sz="2400" b="1">
                <a:solidFill>
                  <a:srgbClr val="8C1D24"/>
                </a:solidFill>
              </a:rPr>
              <a:t>Assumptions:</a:t>
            </a:r>
            <a:endParaRPr sz="2400" b="1">
              <a:solidFill>
                <a:srgbClr val="8C1D24"/>
              </a:solidFill>
            </a:endParaRPr>
          </a:p>
          <a:p>
            <a:pPr>
              <a:spcBef>
                <a:spcPts val="800"/>
              </a:spcBef>
            </a:pPr>
            <a:r>
              <a:rPr sz="2200" b="0"/>
              <a:t>TMDB’s free API stays available (soft limit ~40 requests/second).</a:t>
            </a:r>
            <a:endParaRPr sz="2200" b="0"/>
          </a:p>
          <a:p>
            <a:pPr>
              <a:spcBef>
                <a:spcPts val="800"/>
              </a:spcBef>
            </a:pPr>
            <a:r>
              <a:rPr sz="2200" b="0"/>
              <a:t>TMDB provides cast and character names for spoiler word lists.</a:t>
            </a:r>
            <a:endParaRPr sz="2200" b="0"/>
          </a:p>
          <a:p>
            <a:pPr>
              <a:spcBef>
                <a:spcPts val="800"/>
              </a:spcBef>
            </a:pPr>
            <a:r>
              <a:rPr sz="2200" b="0"/>
              <a:t>Users have a modern browser and internet access.</a:t>
            </a:r>
            <a:endParaRPr sz="2200" b="0"/>
          </a:p>
          <a:p>
            <a:pPr>
              <a:spcBef>
                <a:spcPts val="800"/>
              </a:spcBef>
            </a:pPr>
            <a:r>
              <a:rPr sz="2200" b="0"/>
              <a:t>Free-tier hosting is enough for about 100 test users.</a:t>
            </a:r>
            <a:endParaRPr sz="2200" b="0"/>
          </a:p>
          <a:p>
            <a:pPr>
              <a:spcBef>
                <a:spcPts val="800"/>
              </a:spcBef>
            </a:pPr>
            <a:r>
              <a:rPr sz="2200" b="0"/>
              <a:t>Campus film club members will try a pilot during testing.</a:t>
            </a:r>
            <a:endParaRPr sz="22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
        <p:nvSpPr>
          <p:cNvPr id="7" name="Content Column 2"/>
          <p:cNvSpPr txBox="1"/>
          <p:nvPr/>
        </p:nvSpPr>
        <p:spPr>
          <a:xfrm>
            <a:off x="6217920" y="1097280"/>
            <a:ext cx="548640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800"/>
              </a:spcBef>
              <a:buNone/>
            </a:pPr>
            <a:r>
              <a:rPr sz="2400" b="1">
                <a:solidFill>
                  <a:srgbClr val="8C1D24"/>
                </a:solidFill>
              </a:rPr>
              <a:t>Constraints:</a:t>
            </a:r>
            <a:endParaRPr sz="2400" b="1">
              <a:solidFill>
                <a:srgbClr val="8C1D24"/>
              </a:solidFill>
            </a:endParaRPr>
          </a:p>
          <a:p>
            <a:pPr>
              <a:spcBef>
                <a:spcPts val="800"/>
              </a:spcBef>
            </a:pPr>
            <a:r>
              <a:rPr sz="2200" b="0"/>
              <a:t>15-week semester with fixed Gates 0–4.</a:t>
            </a:r>
            <a:endParaRPr sz="2200" b="0"/>
          </a:p>
          <a:p>
            <a:pPr>
              <a:spcBef>
                <a:spcPts val="800"/>
              </a:spcBef>
            </a:pPr>
            <a:r>
              <a:rPr sz="2200" b="0"/>
              <a:t>Team of 4 students with other coursework.</a:t>
            </a:r>
            <a:endParaRPr sz="2200" b="0"/>
          </a:p>
          <a:p>
            <a:pPr>
              <a:spcBef>
                <a:spcPts val="800"/>
              </a:spcBef>
            </a:pPr>
            <a:r>
              <a:rPr sz="2200" b="0"/>
              <a:t>Zero budget: open-source tools and free-tier hosting only.</a:t>
            </a:r>
            <a:endParaRPr sz="2200" b="0"/>
          </a:p>
          <a:p>
            <a:pPr>
              <a:spcBef>
                <a:spcPts val="800"/>
              </a:spcBef>
            </a:pPr>
            <a:r>
              <a:rPr sz="2200" b="0"/>
              <a:t>Small servers (~512 MB RAM, no GPU), so engines must be light.</a:t>
            </a:r>
            <a:endParaRPr sz="2200" b="0"/>
          </a:p>
          <a:p>
            <a:pPr>
              <a:spcBef>
                <a:spcPts val="800"/>
              </a:spcBef>
            </a:pPr>
            <a:r>
              <a:rPr sz="2200" b="0"/>
              <a:t>TMDB terms require attribution and forbid reselling data.</a:t>
            </a:r>
            <a:endParaRPr sz="2200" b="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FEASIBILITY</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800"/>
              </a:spcBef>
            </a:pPr>
            <a:r>
              <a:rPr sz="2300" b="1"/>
              <a:t>Technical Feasibility:</a:t>
            </a:r>
            <a:r>
              <a:rPr sz="2300" b="0"/>
              <a:t> React, FastAPI and PostgreSQL are familiar from coursework; Trie, Aho–Corasick and thread pools are standard algorithms the team can implement.</a:t>
            </a:r>
            <a:endParaRPr sz="2300" b="0"/>
          </a:p>
          <a:p>
            <a:pPr>
              <a:spcBef>
                <a:spcPts val="800"/>
              </a:spcBef>
            </a:pPr>
            <a:r>
              <a:rPr sz="2300" b="1"/>
              <a:t>Operational Feasibility:</a:t>
            </a:r>
            <a:r>
              <a:rPr sz="2300" b="0"/>
              <a:t> familiar web patterns need no training; the spoiler scan runs in the background; roles keep each user’s screen simple.</a:t>
            </a:r>
            <a:endParaRPr sz="2300" b="0"/>
          </a:p>
          <a:p>
            <a:pPr>
              <a:spcBef>
                <a:spcPts val="800"/>
              </a:spcBef>
            </a:pPr>
            <a:r>
              <a:rPr sz="2300" b="1"/>
              <a:t>Economic Feasibility:</a:t>
            </a:r>
            <a:r>
              <a:rPr sz="2300" b="0"/>
              <a:t> zero cost — open-source stack and free-tier cloud hosting.</a:t>
            </a:r>
            <a:endParaRPr sz="2300" b="0"/>
          </a:p>
          <a:p>
            <a:pPr>
              <a:spcBef>
                <a:spcPts val="800"/>
              </a:spcBef>
            </a:pPr>
            <a:r>
              <a:rPr sz="2300" b="1"/>
              <a:t>Schedule Feasibility:</a:t>
            </a:r>
            <a:r>
              <a:rPr sz="2300" b="0"/>
              <a:t> all Must-have features by Week 11; Weeks 12–15 for Should-haves, testing and buffer.</a:t>
            </a:r>
            <a:endParaRPr sz="2300" b="0"/>
          </a:p>
          <a:p>
            <a:pPr>
              <a:spcBef>
                <a:spcPts val="800"/>
              </a:spcBef>
            </a:pPr>
            <a:r>
              <a:rPr sz="2300" b="1"/>
              <a:t>Resource Feasibility:</a:t>
            </a:r>
            <a:r>
              <a:rPr sz="2300" b="0"/>
              <a:t> Ashutosh — architecture, RBAC, gateway, scheduler; Goureesh — database, search; Manish — Spoiler Shield, taste engine; Omkar — UI, club features, testing.</a:t>
            </a:r>
            <a:endParaRPr sz="2300" b="0"/>
          </a:p>
          <a:p>
            <a:pPr>
              <a:spcBef>
                <a:spcPts val="800"/>
              </a:spcBef>
            </a:pPr>
            <a:r>
              <a:rPr sz="2300" b="1"/>
              <a:t>Conclusion: GO with modifications</a:t>
            </a:r>
            <a:r>
              <a:rPr sz="2300" b="0"/>
              <a:t> — rule-based Spoiler Shield , user-entered aspect ratings, taste-match as a Could-have.</a:t>
            </a:r>
            <a:endParaRPr sz="23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RISK MANAGEMENT</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600"/>
              </a:spcBef>
            </a:pPr>
            <a:r>
              <a:rPr sz="2200" b="1"/>
              <a:t>TMDB outage / format change:</a:t>
            </a:r>
            <a:r>
              <a:rPr sz="2200" b="0"/>
              <a:t> keep a local copy of the catalogue; timeouts and circuit breaker.</a:t>
            </a:r>
            <a:endParaRPr sz="2200" b="0"/>
          </a:p>
          <a:p>
            <a:pPr>
              <a:spcBef>
                <a:spcPts val="600"/>
              </a:spcBef>
            </a:pPr>
            <a:r>
              <a:rPr sz="2200" b="1"/>
              <a:t>TMDB rate limit (HTTP 429):</a:t>
            </a:r>
            <a:r>
              <a:rPr sz="2200" b="0"/>
              <a:t> token-bucket limiter, caching, debounced search box.</a:t>
            </a:r>
            <a:endParaRPr sz="2200" b="0"/>
          </a:p>
          <a:p>
            <a:pPr>
              <a:spcBef>
                <a:spcPts val="600"/>
              </a:spcBef>
            </a:pPr>
            <a:r>
              <a:rPr sz="2200" b="1"/>
              <a:t>Safe reviews blurred wrongly:</a:t>
            </a:r>
            <a:r>
              <a:rPr sz="2200" b="0"/>
              <a:t> Reveal button; common words excluded; moderators edit word lists.</a:t>
            </a:r>
            <a:endParaRPr sz="2200" b="0"/>
          </a:p>
          <a:p>
            <a:pPr>
              <a:spcBef>
                <a:spcPts val="600"/>
              </a:spcBef>
            </a:pPr>
            <a:r>
              <a:rPr sz="2200" b="1"/>
              <a:t>Spoilers written in other words:</a:t>
            </a:r>
            <a:r>
              <a:rPr sz="2200" b="0"/>
              <a:t> writer spoiler tags; 3+ reports auto-hide; new terms added.</a:t>
            </a:r>
            <a:endParaRPr sz="2200" b="0"/>
          </a:p>
          <a:p>
            <a:pPr>
              <a:spcBef>
                <a:spcPts val="600"/>
              </a:spcBef>
            </a:pPr>
            <a:r>
              <a:rPr sz="2200" b="1"/>
              <a:t>Needs not yet confirmed locally:</a:t>
            </a:r>
            <a:r>
              <a:rPr sz="2200" b="0"/>
              <a:t> student survey and club interviews in Weeks 4–5.</a:t>
            </a:r>
            <a:endParaRPr sz="2200" b="0"/>
          </a:p>
          <a:p>
            <a:pPr>
              <a:spcBef>
                <a:spcPts val="600"/>
              </a:spcBef>
            </a:pPr>
            <a:r>
              <a:rPr sz="2200" b="1"/>
              <a:t>Scope creep:</a:t>
            </a:r>
            <a:r>
              <a:rPr sz="2200" b="0"/>
              <a:t> stick to the Out-of-Scope list; guide approves any new item.</a:t>
            </a:r>
            <a:endParaRPr sz="2200" b="0"/>
          </a:p>
          <a:p>
            <a:pPr>
              <a:spcBef>
                <a:spcPts val="600"/>
              </a:spcBef>
            </a:pPr>
            <a:r>
              <a:rPr sz="2200" b="1"/>
              <a:t>Race conditions / deadlock:</a:t>
            </a:r>
            <a:r>
              <a:rPr sz="2200" b="0"/>
              <a:t> fixed lock order, bounded queue, UNIQUE constraints, concurrency tests.</a:t>
            </a:r>
            <a:endParaRPr sz="2200" b="0"/>
          </a:p>
          <a:p>
            <a:pPr>
              <a:spcBef>
                <a:spcPts val="600"/>
              </a:spcBef>
            </a:pPr>
            <a:r>
              <a:rPr sz="2200" b="1"/>
              <a:t>Member unavailable (exams):</a:t>
            </a:r>
            <a:r>
              <a:rPr sz="2200" b="0"/>
              <a:t> backup owner for each engine; code reviews; buffer weeks.</a:t>
            </a:r>
            <a:endParaRPr sz="22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LITERATURE SURVEY</a:t>
            </a:r>
            <a:endParaRPr lang="en-IN" altLang="en-US" sz="4000" b="1" dirty="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graphicFrame>
        <p:nvGraphicFramePr>
          <p:cNvPr id="11" name="Table 10"/>
          <p:cNvGraphicFramePr>
            <a:graphicFrameLocks noGrp="1"/>
          </p:cNvGraphicFramePr>
          <p:nvPr/>
        </p:nvGraphicFramePr>
        <p:xfrm>
          <a:off x="502920" y="1097280"/>
          <a:ext cx="11155680" cy="4846320"/>
        </p:xfrm>
        <a:graphic>
          <a:graphicData uri="http://schemas.openxmlformats.org/drawingml/2006/table">
            <a:tbl>
              <a:tblPr firstRow="1" bandRow="1">
                <a:tableStyleId>{5C22544A-7EE6-4342-B048-85BDC9FD1C3A}</a:tableStyleId>
              </a:tblPr>
              <a:tblGrid>
                <a:gridCol w="731520"/>
                <a:gridCol w="3931920"/>
                <a:gridCol w="3291840"/>
                <a:gridCol w="3200400"/>
              </a:tblGrid>
              <a:tr h="692331">
                <a:tc>
                  <a:txBody>
                    <a:bodyPr/>
                    <a:lstStyle/>
                    <a:p>
                      <a:r>
                        <a:rPr sz="1600" b="1">
                          <a:solidFill>
                            <a:srgbClr val="FFFFFF"/>
                          </a:solidFill>
                        </a:rPr>
                        <a:t>Year</a:t>
                      </a:r>
                      <a:endParaRPr sz="1600" b="1">
                        <a:solidFill>
                          <a:srgbClr val="FFFFFF"/>
                        </a:solidFill>
                      </a:endParaRPr>
                    </a:p>
                  </a:txBody>
                  <a:tcPr marL="73152" marR="73152" anchor="ctr">
                    <a:solidFill>
                      <a:srgbClr val="8C1D24"/>
                    </a:solidFill>
                  </a:tcPr>
                </a:tc>
                <a:tc>
                  <a:txBody>
                    <a:bodyPr/>
                    <a:lstStyle/>
                    <a:p>
                      <a:r>
                        <a:rPr sz="1600" b="1">
                          <a:solidFill>
                            <a:srgbClr val="FFFFFF"/>
                          </a:solidFill>
                        </a:rPr>
                        <a:t>Paper</a:t>
                      </a:r>
                      <a:endParaRPr sz="1600" b="1">
                        <a:solidFill>
                          <a:srgbClr val="FFFFFF"/>
                        </a:solidFill>
                      </a:endParaRPr>
                    </a:p>
                  </a:txBody>
                  <a:tcPr marL="73152" marR="73152" anchor="ctr">
                    <a:solidFill>
                      <a:srgbClr val="8C1D24"/>
                    </a:solidFill>
                  </a:tcPr>
                </a:tc>
                <a:tc>
                  <a:txBody>
                    <a:bodyPr/>
                    <a:lstStyle/>
                    <a:p>
                      <a:r>
                        <a:rPr sz="1600" b="1">
                          <a:solidFill>
                            <a:srgbClr val="FFFFFF"/>
                          </a:solidFill>
                        </a:rPr>
                        <a:t>Key Findings</a:t>
                      </a:r>
                      <a:endParaRPr sz="1600" b="1">
                        <a:solidFill>
                          <a:srgbClr val="FFFFFF"/>
                        </a:solidFill>
                      </a:endParaRPr>
                    </a:p>
                  </a:txBody>
                  <a:tcPr marL="73152" marR="73152" anchor="ctr">
                    <a:solidFill>
                      <a:srgbClr val="8C1D24"/>
                    </a:solidFill>
                  </a:tcPr>
                </a:tc>
                <a:tc>
                  <a:txBody>
                    <a:bodyPr/>
                    <a:lstStyle/>
                    <a:p>
                      <a:r>
                        <a:rPr sz="1600" b="1">
                          <a:solidFill>
                            <a:srgbClr val="FFFFFF"/>
                          </a:solidFill>
                        </a:rPr>
                        <a:t>Why Selected</a:t>
                      </a:r>
                      <a:endParaRPr sz="1600" b="1">
                        <a:solidFill>
                          <a:srgbClr val="FFFFFF"/>
                        </a:solidFill>
                      </a:endParaRPr>
                    </a:p>
                  </a:txBody>
                  <a:tcPr marL="73152" marR="73152" anchor="ctr">
                    <a:solidFill>
                      <a:srgbClr val="8C1D24"/>
                    </a:solidFill>
                  </a:tcPr>
                </a:tc>
              </a:tr>
              <a:tr h="692331">
                <a:tc>
                  <a:txBody>
                    <a:bodyPr/>
                    <a:lstStyle/>
                    <a:p>
                      <a:r>
                        <a:rPr sz="1500" b="0">
                          <a:solidFill>
                            <a:srgbClr val="1A1A1A"/>
                          </a:solidFill>
                        </a:rPr>
                        <a:t>2019</a:t>
                      </a:r>
                      <a:endParaRPr sz="1500" b="0">
                        <a:solidFill>
                          <a:srgbClr val="1A1A1A"/>
                        </a:solidFill>
                      </a:endParaRPr>
                    </a:p>
                  </a:txBody>
                  <a:tcPr marL="73152" marR="73152" anchor="ctr">
                    <a:solidFill>
                      <a:srgbClr val="F7F2F2"/>
                    </a:solidFill>
                  </a:tcPr>
                </a:tc>
                <a:tc>
                  <a:txBody>
                    <a:bodyPr/>
                    <a:lstStyle/>
                    <a:p>
                      <a:r>
                        <a:rPr sz="1500" b="0">
                          <a:solidFill>
                            <a:srgbClr val="1A1A1A"/>
                          </a:solidFill>
                        </a:rPr>
                        <a:t>Wan et al. — Fine-Grained Spoiler Detection from Large-Scale Review Corpora (ACL)</a:t>
                      </a:r>
                      <a:endParaRPr sz="1500" b="0">
                        <a:solidFill>
                          <a:srgbClr val="1A1A1A"/>
                        </a:solidFill>
                      </a:endParaRPr>
                    </a:p>
                  </a:txBody>
                  <a:tcPr marL="73152" marR="73152" anchor="ctr">
                    <a:solidFill>
                      <a:srgbClr val="F7F2F2"/>
                    </a:solidFill>
                  </a:tcPr>
                </a:tc>
                <a:tc>
                  <a:txBody>
                    <a:bodyPr/>
                    <a:lstStyle/>
                    <a:p>
                      <a:r>
                        <a:rPr sz="1500" b="0">
                          <a:solidFill>
                            <a:srgbClr val="1A1A1A"/>
                          </a:solidFill>
                        </a:rPr>
                        <a:t>Spoiler language tends to be specific to each title</a:t>
                      </a:r>
                      <a:endParaRPr sz="1500" b="0">
                        <a:solidFill>
                          <a:srgbClr val="1A1A1A"/>
                        </a:solidFill>
                      </a:endParaRPr>
                    </a:p>
                  </a:txBody>
                  <a:tcPr marL="73152" marR="73152" anchor="ctr">
                    <a:solidFill>
                      <a:srgbClr val="F7F2F2"/>
                    </a:solidFill>
                  </a:tcPr>
                </a:tc>
                <a:tc>
                  <a:txBody>
                    <a:bodyPr/>
                    <a:lstStyle/>
                    <a:p>
                      <a:r>
                        <a:rPr sz="1500" b="0">
                          <a:solidFill>
                            <a:srgbClr val="1A1A1A"/>
                          </a:solidFill>
                        </a:rPr>
                        <a:t>Supports a separate spoiler word list per film</a:t>
                      </a:r>
                      <a:endParaRPr sz="1500" b="0">
                        <a:solidFill>
                          <a:srgbClr val="1A1A1A"/>
                        </a:solidFill>
                      </a:endParaRPr>
                    </a:p>
                  </a:txBody>
                  <a:tcPr marL="73152" marR="73152" anchor="ctr">
                    <a:solidFill>
                      <a:srgbClr val="F7F2F2"/>
                    </a:solidFill>
                  </a:tcPr>
                </a:tc>
              </a:tr>
              <a:tr h="692331">
                <a:tc>
                  <a:txBody>
                    <a:bodyPr/>
                    <a:lstStyle/>
                    <a:p>
                      <a:r>
                        <a:rPr sz="1500" b="0">
                          <a:solidFill>
                            <a:srgbClr val="1A1A1A"/>
                          </a:solidFill>
                        </a:rPr>
                        <a:t>2009</a:t>
                      </a:r>
                      <a:endParaRPr sz="1500" b="0">
                        <a:solidFill>
                          <a:srgbClr val="1A1A1A"/>
                        </a:solidFill>
                      </a:endParaRPr>
                    </a:p>
                  </a:txBody>
                  <a:tcPr marL="73152" marR="73152" anchor="ctr">
                    <a:solidFill>
                      <a:srgbClr val="FFFFFF"/>
                    </a:solidFill>
                  </a:tcPr>
                </a:tc>
                <a:tc>
                  <a:txBody>
                    <a:bodyPr/>
                    <a:lstStyle/>
                    <a:p>
                      <a:r>
                        <a:rPr sz="1500" b="0">
                          <a:solidFill>
                            <a:srgbClr val="1A1A1A"/>
                          </a:solidFill>
                        </a:rPr>
                        <a:t>Hu, Pavlou &amp; Zhang — Overcoming the J-Shaped Distribution of Product Reviews (CACM)</a:t>
                      </a:r>
                      <a:endParaRPr sz="1500" b="0">
                        <a:solidFill>
                          <a:srgbClr val="1A1A1A"/>
                        </a:solidFill>
                      </a:endParaRPr>
                    </a:p>
                  </a:txBody>
                  <a:tcPr marL="73152" marR="73152" anchor="ctr">
                    <a:solidFill>
                      <a:srgbClr val="FFFFFF"/>
                    </a:solidFill>
                  </a:tcPr>
                </a:tc>
                <a:tc>
                  <a:txBody>
                    <a:bodyPr/>
                    <a:lstStyle/>
                    <a:p>
                      <a:r>
                        <a:rPr sz="1500" b="0">
                          <a:solidFill>
                            <a:srgbClr val="1A1A1A"/>
                          </a:solidFill>
                        </a:rPr>
                        <a:t>Ratings are mostly 5- or 1-star, so the average is biased</a:t>
                      </a:r>
                      <a:endParaRPr sz="1500" b="0">
                        <a:solidFill>
                          <a:srgbClr val="1A1A1A"/>
                        </a:solidFill>
                      </a:endParaRPr>
                    </a:p>
                  </a:txBody>
                  <a:tcPr marL="73152" marR="73152" anchor="ctr">
                    <a:solidFill>
                      <a:srgbClr val="FFFFFF"/>
                    </a:solidFill>
                  </a:tcPr>
                </a:tc>
                <a:tc>
                  <a:txBody>
                    <a:bodyPr/>
                    <a:lstStyle/>
                    <a:p>
                      <a:r>
                        <a:rPr sz="1500" b="0">
                          <a:solidFill>
                            <a:srgbClr val="1A1A1A"/>
                          </a:solidFill>
                        </a:rPr>
                        <a:t>Justifies aspect ratings instead of one score</a:t>
                      </a:r>
                      <a:endParaRPr sz="1500" b="0">
                        <a:solidFill>
                          <a:srgbClr val="1A1A1A"/>
                        </a:solidFill>
                      </a:endParaRPr>
                    </a:p>
                  </a:txBody>
                  <a:tcPr marL="73152" marR="73152" anchor="ctr">
                    <a:solidFill>
                      <a:srgbClr val="FFFFFF"/>
                    </a:solidFill>
                  </a:tcPr>
                </a:tc>
              </a:tr>
              <a:tr h="692331">
                <a:tc>
                  <a:txBody>
                    <a:bodyPr/>
                    <a:lstStyle/>
                    <a:p>
                      <a:r>
                        <a:rPr sz="1500" b="0">
                          <a:solidFill>
                            <a:srgbClr val="1A1A1A"/>
                          </a:solidFill>
                        </a:rPr>
                        <a:t>2007</a:t>
                      </a:r>
                      <a:endParaRPr sz="1500" b="0">
                        <a:solidFill>
                          <a:srgbClr val="1A1A1A"/>
                        </a:solidFill>
                      </a:endParaRPr>
                    </a:p>
                  </a:txBody>
                  <a:tcPr marL="73152" marR="73152" anchor="ctr">
                    <a:solidFill>
                      <a:srgbClr val="F7F2F2"/>
                    </a:solidFill>
                  </a:tcPr>
                </a:tc>
                <a:tc>
                  <a:txBody>
                    <a:bodyPr/>
                    <a:lstStyle/>
                    <a:p>
                      <a:r>
                        <a:rPr sz="1500" b="0">
                          <a:solidFill>
                            <a:srgbClr val="1A1A1A"/>
                          </a:solidFill>
                        </a:rPr>
                        <a:t>Adomavicius &amp; Kwon — Multicriteria Rating Systems (IEEE Intelligent Systems)</a:t>
                      </a:r>
                      <a:endParaRPr sz="1500" b="0">
                        <a:solidFill>
                          <a:srgbClr val="1A1A1A"/>
                        </a:solidFill>
                      </a:endParaRPr>
                    </a:p>
                  </a:txBody>
                  <a:tcPr marL="73152" marR="73152" anchor="ctr">
                    <a:solidFill>
                      <a:srgbClr val="F7F2F2"/>
                    </a:solidFill>
                  </a:tcPr>
                </a:tc>
                <a:tc>
                  <a:txBody>
                    <a:bodyPr/>
                    <a:lstStyle/>
                    <a:p>
                      <a:r>
                        <a:rPr sz="1500" b="0">
                          <a:solidFill>
                            <a:srgbClr val="1A1A1A"/>
                          </a:solidFill>
                        </a:rPr>
                        <a:t>Multi-criteria ratings gave more accurate recommendations in the movie domain</a:t>
                      </a:r>
                      <a:endParaRPr sz="1500" b="0">
                        <a:solidFill>
                          <a:srgbClr val="1A1A1A"/>
                        </a:solidFill>
                      </a:endParaRPr>
                    </a:p>
                  </a:txBody>
                  <a:tcPr marL="73152" marR="73152" anchor="ctr">
                    <a:solidFill>
                      <a:srgbClr val="F7F2F2"/>
                    </a:solidFill>
                  </a:tcPr>
                </a:tc>
                <a:tc>
                  <a:txBody>
                    <a:bodyPr/>
                    <a:lstStyle/>
                    <a:p>
                      <a:r>
                        <a:rPr sz="1500" b="0">
                          <a:solidFill>
                            <a:srgbClr val="1A1A1A"/>
                          </a:solidFill>
                        </a:rPr>
                        <a:t>Supports Story / Acting / Visuals / Music / Pacing ratings</a:t>
                      </a:r>
                      <a:endParaRPr sz="1500" b="0">
                        <a:solidFill>
                          <a:srgbClr val="1A1A1A"/>
                        </a:solidFill>
                      </a:endParaRPr>
                    </a:p>
                  </a:txBody>
                  <a:tcPr marL="73152" marR="73152" anchor="ctr">
                    <a:solidFill>
                      <a:srgbClr val="F7F2F2"/>
                    </a:solidFill>
                  </a:tcPr>
                </a:tc>
              </a:tr>
              <a:tr h="692331">
                <a:tc>
                  <a:txBody>
                    <a:bodyPr/>
                    <a:lstStyle/>
                    <a:p>
                      <a:r>
                        <a:rPr sz="1500" b="0">
                          <a:solidFill>
                            <a:srgbClr val="1A1A1A"/>
                          </a:solidFill>
                        </a:rPr>
                        <a:t>2015</a:t>
                      </a:r>
                      <a:endParaRPr sz="1500" b="0">
                        <a:solidFill>
                          <a:srgbClr val="1A1A1A"/>
                        </a:solidFill>
                      </a:endParaRPr>
                    </a:p>
                  </a:txBody>
                  <a:tcPr marL="73152" marR="73152" anchor="ctr">
                    <a:solidFill>
                      <a:srgbClr val="FFFFFF"/>
                    </a:solidFill>
                  </a:tcPr>
                </a:tc>
                <a:tc>
                  <a:txBody>
                    <a:bodyPr/>
                    <a:lstStyle/>
                    <a:p>
                      <a:r>
                        <a:rPr sz="1500" b="0">
                          <a:solidFill>
                            <a:srgbClr val="1A1A1A"/>
                          </a:solidFill>
                        </a:rPr>
                        <a:t>Epstein et al. — A Lived Informatics Model of Personal Informatics (UbiComp)</a:t>
                      </a:r>
                      <a:endParaRPr sz="1500" b="0">
                        <a:solidFill>
                          <a:srgbClr val="1A1A1A"/>
                        </a:solidFill>
                      </a:endParaRPr>
                    </a:p>
                  </a:txBody>
                  <a:tcPr marL="73152" marR="73152" anchor="ctr">
                    <a:solidFill>
                      <a:srgbClr val="FFFFFF"/>
                    </a:solidFill>
                  </a:tcPr>
                </a:tc>
                <a:tc>
                  <a:txBody>
                    <a:bodyPr/>
                    <a:lstStyle/>
                    <a:p>
                      <a:r>
                        <a:rPr sz="1500" b="0">
                          <a:solidFill>
                            <a:srgbClr val="1A1A1A"/>
                          </a:solidFill>
                        </a:rPr>
                        <a:t>Trackers switch tools, forget and give up</a:t>
                      </a:r>
                      <a:endParaRPr sz="1500" b="0">
                        <a:solidFill>
                          <a:srgbClr val="1A1A1A"/>
                        </a:solidFill>
                      </a:endParaRPr>
                    </a:p>
                  </a:txBody>
                  <a:tcPr marL="73152" marR="73152" anchor="ctr">
                    <a:solidFill>
                      <a:srgbClr val="FFFFFF"/>
                    </a:solidFill>
                  </a:tcPr>
                </a:tc>
                <a:tc>
                  <a:txBody>
                    <a:bodyPr/>
                    <a:lstStyle/>
                    <a:p>
                      <a:r>
                        <a:rPr sz="1500" b="0">
                          <a:solidFill>
                            <a:srgbClr val="1A1A1A"/>
                          </a:solidFill>
                        </a:rPr>
                        <a:t>Supports fast, low-effort film logging</a:t>
                      </a:r>
                      <a:endParaRPr sz="1500" b="0">
                        <a:solidFill>
                          <a:srgbClr val="1A1A1A"/>
                        </a:solidFill>
                      </a:endParaRPr>
                    </a:p>
                  </a:txBody>
                  <a:tcPr marL="73152" marR="73152" anchor="ctr">
                    <a:solidFill>
                      <a:srgbClr val="FFFFFF"/>
                    </a:solidFill>
                  </a:tcPr>
                </a:tc>
              </a:tr>
              <a:tr h="692331">
                <a:tc>
                  <a:txBody>
                    <a:bodyPr/>
                    <a:lstStyle/>
                    <a:p>
                      <a:r>
                        <a:rPr sz="1500" b="0">
                          <a:solidFill>
                            <a:srgbClr val="1A1A1A"/>
                          </a:solidFill>
                        </a:rPr>
                        <a:t>1996</a:t>
                      </a:r>
                      <a:endParaRPr sz="1500" b="0">
                        <a:solidFill>
                          <a:srgbClr val="1A1A1A"/>
                        </a:solidFill>
                      </a:endParaRPr>
                    </a:p>
                  </a:txBody>
                  <a:tcPr marL="73152" marR="73152" anchor="ctr">
                    <a:solidFill>
                      <a:srgbClr val="F7F2F2"/>
                    </a:solidFill>
                  </a:tcPr>
                </a:tc>
                <a:tc>
                  <a:txBody>
                    <a:bodyPr/>
                    <a:lstStyle/>
                    <a:p>
                      <a:r>
                        <a:rPr sz="1500" b="0">
                          <a:solidFill>
                            <a:srgbClr val="1A1A1A"/>
                          </a:solidFill>
                        </a:rPr>
                        <a:t>Sandhu et al. — Role-Based Access Control Models (IEEE Computer)</a:t>
                      </a:r>
                      <a:endParaRPr sz="1500" b="0">
                        <a:solidFill>
                          <a:srgbClr val="1A1A1A"/>
                        </a:solidFill>
                      </a:endParaRPr>
                    </a:p>
                  </a:txBody>
                  <a:tcPr marL="73152" marR="73152" anchor="ctr">
                    <a:solidFill>
                      <a:srgbClr val="F7F2F2"/>
                    </a:solidFill>
                  </a:tcPr>
                </a:tc>
                <a:tc>
                  <a:txBody>
                    <a:bodyPr/>
                    <a:lstStyle/>
                    <a:p>
                      <a:r>
                        <a:rPr sz="1500" b="0">
                          <a:solidFill>
                            <a:srgbClr val="1A1A1A"/>
                          </a:solidFill>
                        </a:rPr>
                        <a:t>Permissions are assigned to roles, and users to roles</a:t>
                      </a:r>
                      <a:endParaRPr sz="1500" b="0">
                        <a:solidFill>
                          <a:srgbClr val="1A1A1A"/>
                        </a:solidFill>
                      </a:endParaRPr>
                    </a:p>
                  </a:txBody>
                  <a:tcPr marL="73152" marR="73152" anchor="ctr">
                    <a:solidFill>
                      <a:srgbClr val="F7F2F2"/>
                    </a:solidFill>
                  </a:tcPr>
                </a:tc>
                <a:tc>
                  <a:txBody>
                    <a:bodyPr/>
                    <a:lstStyle/>
                    <a:p>
                      <a:r>
                        <a:rPr sz="1500" b="0">
                          <a:solidFill>
                            <a:srgbClr val="1A1A1A"/>
                          </a:solidFill>
                        </a:rPr>
                        <a:t>Basis of our 5-role permission model</a:t>
                      </a:r>
                      <a:endParaRPr sz="1500" b="0">
                        <a:solidFill>
                          <a:srgbClr val="1A1A1A"/>
                        </a:solidFill>
                      </a:endParaRPr>
                    </a:p>
                  </a:txBody>
                  <a:tcPr marL="73152" marR="73152" anchor="ctr">
                    <a:solidFill>
                      <a:srgbClr val="F7F2F2"/>
                    </a:solidFill>
                  </a:tcPr>
                </a:tc>
              </a:tr>
              <a:tr h="692334">
                <a:tc>
                  <a:txBody>
                    <a:bodyPr/>
                    <a:lstStyle/>
                    <a:p>
                      <a:r>
                        <a:rPr sz="1500" b="0">
                          <a:solidFill>
                            <a:srgbClr val="1A1A1A"/>
                          </a:solidFill>
                        </a:rPr>
                        <a:t>1975</a:t>
                      </a:r>
                      <a:endParaRPr sz="1500" b="0">
                        <a:solidFill>
                          <a:srgbClr val="1A1A1A"/>
                        </a:solidFill>
                      </a:endParaRPr>
                    </a:p>
                  </a:txBody>
                  <a:tcPr marL="73152" marR="73152" anchor="ctr">
                    <a:solidFill>
                      <a:srgbClr val="FFFFFF"/>
                    </a:solidFill>
                  </a:tcPr>
                </a:tc>
                <a:tc>
                  <a:txBody>
                    <a:bodyPr/>
                    <a:lstStyle/>
                    <a:p>
                      <a:r>
                        <a:rPr sz="1500" b="0">
                          <a:solidFill>
                            <a:srgbClr val="1A1A1A"/>
                          </a:solidFill>
                        </a:rPr>
                        <a:t>Aho &amp; Corasick — Efficient String Matching (CACM)</a:t>
                      </a:r>
                      <a:endParaRPr sz="1500" b="0">
                        <a:solidFill>
                          <a:srgbClr val="1A1A1A"/>
                        </a:solidFill>
                      </a:endParaRPr>
                    </a:p>
                  </a:txBody>
                  <a:tcPr marL="73152" marR="73152" anchor="ctr">
                    <a:solidFill>
                      <a:srgbClr val="FFFFFF"/>
                    </a:solidFill>
                  </a:tcPr>
                </a:tc>
                <a:tc>
                  <a:txBody>
                    <a:bodyPr/>
                    <a:lstStyle/>
                    <a:p>
                      <a:r>
                        <a:rPr sz="1500" b="0">
                          <a:solidFill>
                            <a:srgbClr val="1A1A1A"/>
                          </a:solidFill>
                        </a:rPr>
                        <a:t>Finds many keywords in one pass over the text</a:t>
                      </a:r>
                      <a:endParaRPr sz="1500" b="0">
                        <a:solidFill>
                          <a:srgbClr val="1A1A1A"/>
                        </a:solidFill>
                      </a:endParaRPr>
                    </a:p>
                  </a:txBody>
                  <a:tcPr marL="73152" marR="73152" anchor="ctr">
                    <a:solidFill>
                      <a:srgbClr val="FFFFFF"/>
                    </a:solidFill>
                  </a:tcPr>
                </a:tc>
                <a:tc>
                  <a:txBody>
                    <a:bodyPr/>
                    <a:lstStyle/>
                    <a:p>
                      <a:r>
                        <a:rPr sz="1500" b="0">
                          <a:solidFill>
                            <a:srgbClr val="1A1A1A"/>
                          </a:solidFill>
                        </a:rPr>
                        <a:t>Core algorithm of the Spoiler Shield Engine</a:t>
                      </a:r>
                      <a:endParaRPr sz="1500" b="0">
                        <a:solidFill>
                          <a:srgbClr val="1A1A1A"/>
                        </a:solidFill>
                      </a:endParaRPr>
                    </a:p>
                  </a:txBody>
                  <a:tcPr marL="73152" marR="73152"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GATE 0 CONCLUSION</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300"/>
              </a:spcBef>
            </a:pPr>
            <a:r>
              <a:rPr sz="2200" b="1"/>
              <a:t>PROBLEM</a:t>
            </a:r>
            <a:endParaRPr sz="2200" b="1"/>
          </a:p>
          <a:p>
            <a:pPr marL="228600" indent="0">
              <a:spcBef>
                <a:spcPts val="300"/>
              </a:spcBef>
              <a:buNone/>
            </a:pPr>
            <a:r>
              <a:rPr sz="2200" b="0"/>
              <a:t>Scattered film records, unmarked spoilers, misleading single scores and unstructured club decisions for film viewers and campus clubs.</a:t>
            </a:r>
            <a:endParaRPr sz="2200" b="0"/>
          </a:p>
          <a:p>
            <a:pPr>
              <a:spcBef>
                <a:spcPts val="300"/>
              </a:spcBef>
            </a:pPr>
            <a:r>
              <a:rPr sz="2200" b="1"/>
              <a:t>FOUNDATION</a:t>
            </a:r>
            <a:endParaRPr sz="2200" b="1"/>
          </a:p>
          <a:p>
            <a:pPr marL="228600" indent="0">
              <a:spcBef>
                <a:spcPts val="300"/>
              </a:spcBef>
              <a:buNone/>
            </a:pPr>
            <a:r>
              <a:rPr sz="2200" b="0"/>
              <a:t>DSA + DBMS + OS + Computer Networks &amp; Security + Software Engineering + Web Technologies</a:t>
            </a:r>
            <a:endParaRPr sz="2200" b="0"/>
          </a:p>
          <a:p>
            <a:pPr>
              <a:spcBef>
                <a:spcPts val="300"/>
              </a:spcBef>
            </a:pPr>
            <a:r>
              <a:rPr sz="2200" b="1"/>
              <a:t>SCOPE</a:t>
            </a:r>
            <a:endParaRPr sz="2200" b="1"/>
          </a:p>
          <a:p>
            <a:pPr marL="228600" indent="0">
              <a:spcBef>
                <a:spcPts val="300"/>
              </a:spcBef>
              <a:buNone/>
            </a:pPr>
            <a:r>
              <a:rPr sz="2200" b="0"/>
              <a:t>8 engines: Roles + Secure Gateway + Search + Storage &amp; Transactions + Job Scheduler + Spoiler Shield + Diary &amp; Taste + Club &amp; Moderation</a:t>
            </a:r>
            <a:endParaRPr sz="2200" b="0"/>
          </a:p>
          <a:p>
            <a:pPr>
              <a:spcBef>
                <a:spcPts val="300"/>
              </a:spcBef>
            </a:pPr>
            <a:r>
              <a:rPr sz="2200" b="1"/>
              <a:t>FEASIBILITY – GO WITH MODIFICATIONS</a:t>
            </a:r>
            <a:endParaRPr sz="2200" b="1"/>
          </a:p>
          <a:p>
            <a:pPr marL="228600" indent="0">
              <a:spcBef>
                <a:spcPts val="300"/>
              </a:spcBef>
              <a:buNone/>
            </a:pPr>
            <a:r>
              <a:rPr sz="2200" b="0"/>
              <a:t>Feasible in 15 weeks at zero cost with a rule-based Spoiler Shield (no AI) and a free, familiar stack.</a:t>
            </a:r>
            <a:endParaRPr sz="2200" b="0"/>
          </a:p>
          <a:p>
            <a:pPr>
              <a:spcBef>
                <a:spcPts val="300"/>
              </a:spcBef>
            </a:pPr>
            <a:r>
              <a:rPr sz="2200" b="1"/>
              <a:t>NEXT STEP</a:t>
            </a:r>
            <a:endParaRPr sz="2200" b="1"/>
          </a:p>
          <a:p>
            <a:pPr marL="228600" indent="0">
              <a:spcBef>
                <a:spcPts val="300"/>
              </a:spcBef>
              <a:buNone/>
            </a:pPr>
            <a:r>
              <a:rPr sz="2200" b="0"/>
              <a:t>Validate needs with a student survey and club interviews, then turn the problem, objectives and constraints into functional and non-functional requirements (SRS) for Gate 1.</a:t>
            </a:r>
            <a:endParaRPr sz="2200" b="0"/>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REFERENCES</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700"/>
              </a:spcBef>
              <a:buNone/>
            </a:pPr>
            <a:r>
              <a:rPr sz="1600" b="0"/>
              <a:t>[1] Ormax Media (2026). The Ormax Box Office Report: 2025. </a:t>
            </a:r>
            <a:r>
              <a:rPr sz="1500">
                <a:hlinkClick r:id="rId1"/>
              </a:rPr>
              <a:t>https://www.ormaxmedia.com/stories/the-ormax-box-office-report-2025.html</a:t>
            </a:r>
            <a:endParaRPr sz="1500"/>
          </a:p>
          <a:p>
            <a:pPr marL="0" indent="0">
              <a:spcBef>
                <a:spcPts val="700"/>
              </a:spcBef>
              <a:buNone/>
            </a:pPr>
            <a:r>
              <a:rPr sz="1600" b="0"/>
              <a:t>[2] Ormax Media (2025). The Ormax OTT Audience Report: 2025. </a:t>
            </a:r>
            <a:r>
              <a:rPr sz="1500">
                <a:hlinkClick r:id="rId2"/>
              </a:rPr>
              <a:t>https://www.ormaxmedia.com/stories/the-ormax-ott-audience-report-2025.html</a:t>
            </a:r>
            <a:endParaRPr sz="1500"/>
          </a:p>
          <a:p>
            <a:pPr marL="0" indent="0">
              <a:spcBef>
                <a:spcPts val="700"/>
              </a:spcBef>
              <a:buNone/>
            </a:pPr>
            <a:r>
              <a:rPr sz="1600" b="0"/>
              <a:t>[3] Screen Daily (2024). Charting the rise of cinephile social platform Letterboxd. </a:t>
            </a:r>
            <a:r>
              <a:rPr sz="1500">
                <a:hlinkClick r:id="rId3"/>
              </a:rPr>
              <a:t>https://www.screendaily.com/features/weve-elbowed-our-way-into-the-industry-charting-the-rise-of-cinephile-social-platform-letterboxd/5191962.article</a:t>
            </a:r>
            <a:endParaRPr sz="1500"/>
          </a:p>
          <a:p>
            <a:pPr marL="0" indent="0">
              <a:spcBef>
                <a:spcPts val="700"/>
              </a:spcBef>
              <a:buNone/>
            </a:pPr>
            <a:r>
              <a:rPr sz="1600" b="0"/>
              <a:t>[4] Wikipedia. Letterboxd (accessed Sep 2026). </a:t>
            </a:r>
            <a:r>
              <a:rPr sz="1500">
                <a:hlinkClick r:id="rId4"/>
              </a:rPr>
              <a:t>https://en.wikipedia.org/wiki/Letterboxd</a:t>
            </a:r>
            <a:endParaRPr sz="1500"/>
          </a:p>
          <a:p>
            <a:pPr marL="0" indent="0">
              <a:spcBef>
                <a:spcPts val="700"/>
              </a:spcBef>
              <a:buNone/>
            </a:pPr>
            <a:r>
              <a:rPr sz="1600" b="0"/>
              <a:t>[5] Fast Company (2014). Who actually cares about spoilers? (TiVo survey). </a:t>
            </a:r>
            <a:r>
              <a:rPr sz="1500">
                <a:hlinkClick r:id="rId5"/>
              </a:rPr>
              <a:t>https://www.fastcompany.com/3034474/who-actually-cares-about-spoilers-spoiler-about-70-of-us</a:t>
            </a:r>
            <a:endParaRPr sz="1500"/>
          </a:p>
          <a:p>
            <a:pPr marL="0" indent="0">
              <a:spcBef>
                <a:spcPts val="700"/>
              </a:spcBef>
              <a:buNone/>
            </a:pPr>
            <a:r>
              <a:rPr sz="1600" b="0"/>
              <a:t>[6] All About Cookies (2026). Spoiler etiquette survey. </a:t>
            </a:r>
            <a:r>
              <a:rPr sz="1500">
                <a:hlinkClick r:id="rId6"/>
              </a:rPr>
              <a:t>https://allaboutcookies.org/media-spoilers-etiquette-survey</a:t>
            </a:r>
            <a:endParaRPr sz="1500"/>
          </a:p>
          <a:p>
            <a:pPr marL="0" indent="0">
              <a:spcBef>
                <a:spcPts val="700"/>
              </a:spcBef>
              <a:buNone/>
            </a:pPr>
            <a:r>
              <a:rPr sz="1600" b="0"/>
              <a:t>[7] YouGov (2022). How do Americans like their TV? </a:t>
            </a:r>
            <a:r>
              <a:rPr sz="1500">
                <a:hlinkClick r:id="rId7"/>
              </a:rPr>
              <a:t>https://today.yougov.com/entertainment/articles/42726-american-tv-preferences-yougov-poll</a:t>
            </a:r>
            <a:endParaRPr sz="1500"/>
          </a:p>
          <a:p>
            <a:pPr marL="0" indent="0">
              <a:spcBef>
                <a:spcPts val="700"/>
              </a:spcBef>
              <a:buNone/>
            </a:pPr>
            <a:r>
              <a:rPr sz="1600" b="0"/>
              <a:t>[8] Letterboxd. Community Policy. </a:t>
            </a:r>
            <a:r>
              <a:rPr sz="1500">
                <a:hlinkClick r:id="rId8"/>
              </a:rPr>
              <a:t>https://letterboxd.com/legal/community-policy/</a:t>
            </a:r>
            <a:endParaRPr sz="1500"/>
          </a:p>
          <a:p>
            <a:pPr marL="0" indent="0">
              <a:spcBef>
                <a:spcPts val="700"/>
              </a:spcBef>
              <a:buNone/>
            </a:pPr>
            <a:r>
              <a:rPr sz="1600" b="0"/>
              <a:t>[9] IMDb Help Center. User review guidelines. </a:t>
            </a:r>
            <a:r>
              <a:rPr sz="1500">
                <a:hlinkClick r:id="rId9"/>
              </a:rPr>
              <a:t>https://help.imdb.com/article/contribution/contribution-information/user-review-guidelines/GABTWSNLDNFLPRRH</a:t>
            </a:r>
            <a:endParaRPr sz="1500"/>
          </a:p>
          <a:p>
            <a:pPr marL="0" indent="0">
              <a:spcBef>
                <a:spcPts val="700"/>
              </a:spcBef>
              <a:buNone/>
            </a:pPr>
            <a:r>
              <a:rPr sz="1600" b="0"/>
              <a:t>[10] CBC (2023). The Little Mermaid's review bombing. </a:t>
            </a:r>
            <a:r>
              <a:rPr sz="1500">
                <a:hlinkClick r:id="rId10"/>
              </a:rPr>
              <a:t>https://www.cbc.ca/lite/story/1.6864613</a:t>
            </a:r>
            <a:endParaRPr sz="1500">
              <a:hlinkClick r:id="rId10"/>
            </a:endParaRPr>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377825" y="80963"/>
            <a:ext cx="8138160" cy="91757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4000" b="1" dirty="0"/>
              <a:t>REFERENCES (CONTD.)</a:t>
            </a:r>
            <a:endParaRPr lang="en-IN" altLang="en-US" sz="4000" b="1" dirty="0"/>
          </a:p>
        </p:txBody>
      </p:sp>
      <p:sp>
        <p:nvSpPr>
          <p:cNvPr id="3" name="Content Placeholder 2"/>
          <p:cNvSpPr txBox="1"/>
          <p:nvPr/>
        </p:nvSpPr>
        <p:spPr>
          <a:xfrm>
            <a:off x="502920" y="1097280"/>
            <a:ext cx="11155680" cy="5074920"/>
          </a:xfrm>
          <a:prstGeom prst="rect">
            <a:avLst/>
          </a:prstGeom>
        </p:spPr>
        <p:txBody>
          <a:bodyPr wrap="square">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700"/>
              </a:spcBef>
              <a:buNone/>
            </a:pPr>
            <a:r>
              <a:rPr sz="1600" b="0"/>
              <a:t>[11] Newsweek (2019). Rotten Tomatoes ticket-verified ratings. </a:t>
            </a:r>
            <a:r>
              <a:rPr sz="1500">
                <a:hlinkClick r:id="rId1"/>
              </a:rPr>
              <a:t>https://www.newsweek.com/rotten-tomatoes-attempts-fix-review-bombing-ticket-verification-requirement-1434413</a:t>
            </a:r>
            <a:endParaRPr sz="1500"/>
          </a:p>
          <a:p>
            <a:pPr marL="0" indent="0">
              <a:spcBef>
                <a:spcPts val="700"/>
              </a:spcBef>
              <a:buNone/>
            </a:pPr>
            <a:r>
              <a:rPr sz="1600" b="0"/>
              <a:t>[12] Hu, N., Pavlou, P. A., &amp; Zhang, J. (2009). Overcoming the J-shaped distribution of product reviews. CACM, 52(10), 144–147. </a:t>
            </a:r>
            <a:r>
              <a:rPr sz="1500">
                <a:hlinkClick r:id="rId2"/>
              </a:rPr>
              <a:t>https://doi.org/10.1145/1562764.1562800</a:t>
            </a:r>
            <a:endParaRPr sz="1500"/>
          </a:p>
          <a:p>
            <a:pPr marL="0" indent="0">
              <a:spcBef>
                <a:spcPts val="700"/>
              </a:spcBef>
              <a:buNone/>
            </a:pPr>
            <a:r>
              <a:rPr sz="1600" b="0"/>
              <a:t>[13] Adomavicius, G., &amp; Kwon, Y. (2007). New recommendation techniques for multicriteria rating systems. IEEE Intelligent Systems, 22(3), 48–55. </a:t>
            </a:r>
            <a:r>
              <a:rPr sz="1500">
                <a:hlinkClick r:id="rId3"/>
              </a:rPr>
              <a:t>https://doi.org/10.1109/MIS.2007.58</a:t>
            </a:r>
            <a:endParaRPr sz="1500"/>
          </a:p>
          <a:p>
            <a:pPr marL="0" indent="0">
              <a:spcBef>
                <a:spcPts val="700"/>
              </a:spcBef>
              <a:buNone/>
            </a:pPr>
            <a:r>
              <a:rPr sz="1600" b="0"/>
              <a:t>[14] Epstein, D. A., Ping, A., Fogarty, J., &amp; Munson, S. A. (2015). A lived informatics model of personal informatics. UbiComp 2015. </a:t>
            </a:r>
            <a:r>
              <a:rPr sz="1500">
                <a:hlinkClick r:id="rId4"/>
              </a:rPr>
              <a:t>https://doi.org/10.1145/2750858.2804250</a:t>
            </a:r>
            <a:endParaRPr sz="1500"/>
          </a:p>
          <a:p>
            <a:pPr marL="0" indent="0">
              <a:spcBef>
                <a:spcPts val="700"/>
              </a:spcBef>
              <a:buNone/>
            </a:pPr>
            <a:r>
              <a:rPr sz="1600" b="0"/>
              <a:t>[15] Teo, K. H., &amp; Khiri, M. J. A. (2021). FCSIT WhatsApp Chatbot. Trends in Undergraduate Research, 4(1). </a:t>
            </a:r>
            <a:r>
              <a:rPr sz="1500">
                <a:hlinkClick r:id="rId5"/>
              </a:rPr>
              <a:t>https://doi.org/10.33736/tur.2866.2021</a:t>
            </a:r>
            <a:endParaRPr sz="1500"/>
          </a:p>
          <a:p>
            <a:pPr marL="0" indent="0">
              <a:spcBef>
                <a:spcPts val="700"/>
              </a:spcBef>
              <a:buNone/>
            </a:pPr>
            <a:r>
              <a:rPr sz="1600" b="0"/>
              <a:t>[16] Wan, M., Misra, R., Nakashole, N., &amp; McAuley, J. (2019). Fine-Grained Spoiler Detection from Large-Scale Review Corpora. ACL 2019. </a:t>
            </a:r>
            <a:r>
              <a:rPr sz="1500">
                <a:hlinkClick r:id="rId6"/>
              </a:rPr>
              <a:t>https://aclanthology.org/P19-1248/</a:t>
            </a:r>
            <a:endParaRPr sz="1500"/>
          </a:p>
          <a:p>
            <a:pPr marL="0" indent="0">
              <a:spcBef>
                <a:spcPts val="700"/>
              </a:spcBef>
              <a:buNone/>
            </a:pPr>
            <a:r>
              <a:rPr sz="1600" b="0"/>
              <a:t>[17] Aho, A. V., &amp; Corasick, M. J. (1975). Efficient string matching: an aid to bibliographic search. CACM, 18(6), 333–340. </a:t>
            </a:r>
            <a:r>
              <a:rPr sz="1500">
                <a:hlinkClick r:id="rId7"/>
              </a:rPr>
              <a:t>https://doi.org/10.1145/360825.360855</a:t>
            </a:r>
            <a:endParaRPr sz="1500"/>
          </a:p>
          <a:p>
            <a:pPr marL="0" indent="0">
              <a:spcBef>
                <a:spcPts val="700"/>
              </a:spcBef>
              <a:buNone/>
            </a:pPr>
            <a:r>
              <a:rPr sz="1600" b="0"/>
              <a:t>[18] Sandhu, R. S., Coyne, E. J., Feinstein, H. L., &amp; Youman, C. E. (1996). Role-Based Access Control Models. IEEE Computer, 29(2), 38–47. </a:t>
            </a:r>
            <a:r>
              <a:rPr sz="1500">
                <a:hlinkClick r:id="rId8"/>
              </a:rPr>
              <a:t>https://doi.org/10.1109/2.485845</a:t>
            </a:r>
            <a:endParaRPr sz="1500"/>
          </a:p>
          <a:p>
            <a:pPr marL="0" indent="0">
              <a:spcBef>
                <a:spcPts val="700"/>
              </a:spcBef>
              <a:buNone/>
            </a:pPr>
            <a:r>
              <a:rPr sz="1600" b="0"/>
              <a:t>[19] TMDB. API documentation — Rate Limiting. </a:t>
            </a:r>
            <a:r>
              <a:rPr sz="1500">
                <a:hlinkClick r:id="rId9"/>
              </a:rPr>
              <a:t>https://developer.themoviedb.org/docs/rate-limiting</a:t>
            </a:r>
            <a:endParaRPr sz="1500"/>
          </a:p>
          <a:p>
            <a:pPr marL="0" indent="0">
              <a:spcBef>
                <a:spcPts val="700"/>
              </a:spcBef>
              <a:buNone/>
            </a:pPr>
            <a:r>
              <a:rPr sz="1600" b="0"/>
              <a:t>[20] OWASP Foundation (2021). OWASP Top 10:2021. </a:t>
            </a:r>
            <a:r>
              <a:rPr sz="1500">
                <a:hlinkClick r:id="rId10"/>
              </a:rPr>
              <a:t>https://owasp.org/Top10/2021/</a:t>
            </a:r>
            <a:endParaRPr sz="1500">
              <a:hlinkClick r:id="rId10"/>
            </a:endParaRPr>
          </a:p>
        </p:txBody>
      </p:sp>
      <p:sp>
        <p:nvSpPr>
          <p:cNvPr id="4" name="Date Placeholder 3"/>
          <p:cNvSpPr>
            <a:spLocks noGrp="1"/>
          </p:cNvSpPr>
          <p:nvPr>
            <p:ph type="dt" sz="quarter" idx="10"/>
          </p:nvPr>
        </p:nvSpPr>
        <p:spPr>
          <a:xfrm>
            <a:off x="838200" y="6356350"/>
            <a:ext cx="2743200" cy="365125"/>
          </a:xfrm>
        </p:spPr>
        <p:txBody>
          <a:bodyPr/>
          <a:lstStyle/>
          <a:p>
            <a:pPr>
              <a:defRPr/>
            </a:pPr>
            <a:fld id="{4CE04FAB-D1DE-42D8-9182-1F68B794E7A0}" type="datetime1">
              <a:rPr lang="en-IN"/>
            </a:fld>
            <a:endParaRPr lang="en-IN"/>
          </a:p>
        </p:txBody>
      </p:sp>
      <p:sp>
        <p:nvSpPr>
          <p:cNvPr id="5" name="Footer Placeholder 4"/>
          <p:cNvSpPr>
            <a:spLocks noGrp="1"/>
          </p:cNvSpPr>
          <p:nvPr>
            <p:ph type="ftr" sz="quarter" idx="11"/>
          </p:nvPr>
        </p:nvSpPr>
        <p:spPr>
          <a:xfrm>
            <a:off x="4038600" y="6356350"/>
            <a:ext cx="4114800" cy="365125"/>
          </a:xfrm>
        </p:spPr>
        <p:txBody>
          <a:bodyPr/>
          <a:lstStyle/>
          <a:p>
            <a:pPr>
              <a:defRPr/>
            </a:pPr>
            <a:r>
              <a:rPr lang="en-IN" dirty="0"/>
              <a:t>Department of Computer Science and Engineering</a:t>
            </a:r>
            <a:endParaRPr lang="en-IN" dirty="0"/>
          </a:p>
        </p:txBody>
      </p:sp>
      <p:sp>
        <p:nvSpPr>
          <p:cNvPr id="6" name="Slide Number Placeholder 5"/>
          <p:cNvSpPr>
            <a:spLocks noGrp="1"/>
          </p:cNvSpPr>
          <p:nvPr>
            <p:ph type="sldNum" sz="quarter" idx="12"/>
          </p:nvPr>
        </p:nvSpPr>
        <p:spPr>
          <a:xfrm>
            <a:off x="8610600" y="6356350"/>
            <a:ext cx="2743200" cy="365125"/>
          </a:xfrm>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fld id="{EF5826BF-E61F-4E52-AB9D-373E57465342}" type="slidenum">
              <a:rPr lang="en-IN" altLang="en-US">
                <a:solidFill>
                  <a:srgbClr val="898989"/>
                </a:solidFill>
              </a:rPr>
            </a:fld>
            <a:endParaRPr lang="en-IN" altLang="en-US">
              <a:solidFill>
                <a:srgbClr val="898989"/>
              </a:solidFill>
            </a:endParaRPr>
          </a:p>
        </p:txBody>
      </p:sp>
      <p:sp>
        <p:nvSpPr>
          <p:cNvPr id="8" name="Line 2"/>
          <p:cNvSpPr/>
          <p:nvPr/>
        </p:nvSpPr>
        <p:spPr bwMode="auto">
          <a:xfrm>
            <a:off x="85725" y="750888"/>
            <a:ext cx="11993563" cy="20637"/>
          </a:xfrm>
          <a:prstGeom prst="line">
            <a:avLst/>
          </a:prstGeom>
          <a:ln w="3240">
            <a:solidFill>
              <a:srgbClr val="E4948A"/>
            </a:solidFill>
          </a:ln>
        </p:spPr>
        <p:style>
          <a:lnRef idx="1">
            <a:schemeClr val="accent6"/>
          </a:lnRef>
          <a:fillRef idx="0">
            <a:schemeClr val="accent6"/>
          </a:fillRef>
          <a:effectRef idx="0">
            <a:schemeClr val="accent6"/>
          </a:effectRef>
          <a:fontRef idx="minor"/>
        </p:style>
      </p:sp>
      <p:pic>
        <p:nvPicPr>
          <p:cNvPr id="10" name="Picture 9"/>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769350" y="80963"/>
            <a:ext cx="3422650" cy="58204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17813</Words>
  <Application>WPS Presentation</Application>
  <PresentationFormat>Widescreen</PresentationFormat>
  <Paragraphs>436</Paragraphs>
  <Slides>22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22</vt:i4>
      </vt:variant>
    </vt:vector>
  </HeadingPairs>
  <TitlesOfParts>
    <vt:vector size="30" baseType="lpstr">
      <vt:lpstr>Arial</vt:lpstr>
      <vt:lpstr>SimSun</vt:lpstr>
      <vt:lpstr>Wingdings</vt:lpstr>
      <vt:lpstr>Calibri</vt:lpstr>
      <vt:lpstr>Calibri Light</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Sunil V Gurlahosur</dc:creator>
  <cp:lastModifiedBy>omiea</cp:lastModifiedBy>
  <cp:revision>6</cp:revision>
  <dcterms:created xsi:type="dcterms:W3CDTF">2026-09-11T08:58:00Z</dcterms:created>
  <dcterms:modified xsi:type="dcterms:W3CDTF">2026-09-21T10:11:50Z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6C17FED358C048258A512E083F847C1C_12</vt:lpwstr>
  </property>
</Properties>
</file>